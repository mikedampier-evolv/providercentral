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1645920"/>
            <a:ext cx="10058400" cy="1097280"/>
          </a:xfrm>
          <a:prstGeom prst="rect">
            <a:avLst/>
          </a:prstGeom>
          <a:noFill/>
        </p:spPr>
        <p:txBody>
          <a:bodyPr wrap="square">
            <a:spAutoFit/>
          </a:bodyPr>
          <a:lstStyle/>
          <a:p>
            <a:pPr algn="ctr">
              <a:defRPr sz="4400" b="1">
                <a:solidFill>
                  <a:srgbClr val="FFFFFF"/>
                </a:solidFill>
                <a:latin typeface="Calibri"/>
              </a:defRPr>
            </a:pPr>
            <a:r>
              <a:t>Hospital 360</a:t>
            </a:r>
          </a:p>
        </p:txBody>
      </p:sp>
      <p:sp>
        <p:nvSpPr>
          <p:cNvPr id="3" name="TextBox 2"/>
          <p:cNvSpPr txBox="1"/>
          <p:nvPr/>
        </p:nvSpPr>
        <p:spPr>
          <a:xfrm>
            <a:off x="914400" y="2743200"/>
            <a:ext cx="10058400" cy="731520"/>
          </a:xfrm>
          <a:prstGeom prst="rect">
            <a:avLst/>
          </a:prstGeom>
          <a:noFill/>
        </p:spPr>
        <p:txBody>
          <a:bodyPr wrap="square">
            <a:spAutoFit/>
          </a:bodyPr>
          <a:lstStyle/>
          <a:p>
            <a:pPr algn="ctr">
              <a:defRPr sz="2400" b="0">
                <a:solidFill>
                  <a:srgbClr val="29B5E8"/>
                </a:solidFill>
                <a:latin typeface="Calibri"/>
              </a:defRPr>
            </a:pPr>
            <a:r>
              <a:t>Snowflake + Epic Healthcare Analytics Platform</a:t>
            </a:r>
          </a:p>
        </p:txBody>
      </p:sp>
      <p:sp>
        <p:nvSpPr>
          <p:cNvPr id="4" name="TextBox 3"/>
          <p:cNvSpPr txBox="1"/>
          <p:nvPr/>
        </p:nvSpPr>
        <p:spPr>
          <a:xfrm>
            <a:off x="914400" y="3474720"/>
            <a:ext cx="10058400" cy="548640"/>
          </a:xfrm>
          <a:prstGeom prst="rect">
            <a:avLst/>
          </a:prstGeom>
          <a:noFill/>
        </p:spPr>
        <p:txBody>
          <a:bodyPr wrap="square">
            <a:spAutoFit/>
          </a:bodyPr>
          <a:lstStyle/>
          <a:p>
            <a:pPr algn="ctr">
              <a:defRPr sz="1600" b="0">
                <a:solidFill>
                  <a:srgbClr val="FFFFFF"/>
                </a:solidFill>
                <a:latin typeface="Calibri"/>
              </a:defRPr>
            </a:pPr>
            <a:r>
              <a:t>Built 100% on Snowflake — from raw data ingestion to agentic AI analytics</a:t>
            </a:r>
          </a:p>
        </p:txBody>
      </p:sp>
      <p:sp>
        <p:nvSpPr>
          <p:cNvPr id="5" name="TextBox 4"/>
          <p:cNvSpPr txBox="1"/>
          <p:nvPr/>
        </p:nvSpPr>
        <p:spPr>
          <a:xfrm>
            <a:off x="914400" y="4114800"/>
            <a:ext cx="10058400" cy="457200"/>
          </a:xfrm>
          <a:prstGeom prst="rect">
            <a:avLst/>
          </a:prstGeom>
          <a:noFill/>
        </p:spPr>
        <p:txBody>
          <a:bodyPr wrap="square">
            <a:spAutoFit/>
          </a:bodyPr>
          <a:lstStyle/>
          <a:p>
            <a:pPr algn="ctr">
              <a:defRPr sz="1400" b="0">
                <a:solidFill>
                  <a:srgbClr val="999999"/>
                </a:solidFill>
                <a:latin typeface="Calibri"/>
              </a:defRPr>
            </a:pPr>
            <a:r>
              <a:t>5 Databases | 28+ Tables | 4 ML Models | 9 Streamlit Pages | 1 Cortex Agent</a:t>
            </a:r>
          </a:p>
        </p:txBody>
      </p:sp>
      <p:sp>
        <p:nvSpPr>
          <p:cNvPr id="6" name="TextBox 5"/>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The Vision</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One platform. Eight use cases. Zero data movement.</a:t>
            </a:r>
          </a:p>
        </p:txBody>
      </p:sp>
      <p:sp>
        <p:nvSpPr>
          <p:cNvPr id="5" name="TextBox 4"/>
          <p:cNvSpPr txBox="1"/>
          <p:nvPr/>
        </p:nvSpPr>
        <p:spPr>
          <a:xfrm>
            <a:off x="640080" y="1463040"/>
            <a:ext cx="10881360" cy="320040"/>
          </a:xfrm>
          <a:prstGeom prst="rect">
            <a:avLst/>
          </a:prstGeom>
          <a:noFill/>
        </p:spPr>
        <p:txBody>
          <a:bodyPr wrap="square">
            <a:spAutoFit/>
          </a:bodyPr>
          <a:lstStyle/>
          <a:p>
            <a:pPr algn="l">
              <a:defRPr sz="1400" b="0">
                <a:solidFill>
                  <a:srgbClr val="333333"/>
                </a:solidFill>
                <a:latin typeface="Calibri"/>
              </a:defRPr>
            </a:pPr>
            <a:r>
              <a:t>Hospital 360 consolidates clinical, financial, and operational data from Epic-style sources into a single Snowflake platform — eliminating data silos and enabling analytics from self-service dashboards to AI-driven decision support.</a:t>
            </a:r>
          </a:p>
        </p:txBody>
      </p:sp>
      <p:sp>
        <p:nvSpPr>
          <p:cNvPr id="6" name="TextBox 5"/>
          <p:cNvSpPr txBox="1"/>
          <p:nvPr/>
        </p:nvSpPr>
        <p:spPr>
          <a:xfrm>
            <a:off x="640080" y="1810512"/>
            <a:ext cx="10881360" cy="365760"/>
          </a:xfrm>
          <a:prstGeom prst="rect">
            <a:avLst/>
          </a:prstGeom>
          <a:noFill/>
        </p:spPr>
        <p:txBody>
          <a:bodyPr wrap="square">
            <a:spAutoFit/>
          </a:bodyPr>
          <a:lstStyle/>
          <a:p>
            <a:pPr algn="l">
              <a:defRPr sz="1800" b="1">
                <a:solidFill>
                  <a:srgbClr val="1B2A4A"/>
                </a:solidFill>
                <a:latin typeface="Calibri"/>
              </a:defRPr>
            </a:pPr>
            <a:r>
              <a:t>What It Delivers</a:t>
            </a:r>
          </a:p>
        </p:txBody>
      </p:sp>
      <p:sp>
        <p:nvSpPr>
          <p:cNvPr id="7" name="TextBox 6"/>
          <p:cNvSpPr txBox="1"/>
          <p:nvPr/>
        </p:nvSpPr>
        <p:spPr>
          <a:xfrm>
            <a:off x="640080" y="2221992"/>
            <a:ext cx="10881360" cy="4087368"/>
          </a:xfrm>
          <a:prstGeom prst="rect">
            <a:avLst/>
          </a:prstGeom>
          <a:noFill/>
        </p:spPr>
        <p:txBody>
          <a:bodyPr wrap="square">
            <a:spAutoFit/>
          </a:bodyPr>
          <a:lstStyle/>
          <a:p>
            <a:pPr>
              <a:spcBef>
                <a:spcPts val="400"/>
              </a:spcBef>
              <a:spcAft>
                <a:spcPts val="200"/>
              </a:spcAft>
            </a:pPr>
            <a:r>
              <a:rPr b="1" sz="1300">
                <a:solidFill>
                  <a:srgbClr val="333333"/>
                </a:solidFill>
                <a:latin typeface="Calibri"/>
              </a:rPr>
              <a:t>4 clinical/financial/operational dashboards</a:t>
            </a:r>
            <a:r>
              <a:rPr sz="1300">
                <a:solidFill>
                  <a:srgbClr val="333333"/>
                </a:solidFill>
                <a:latin typeface="Calibri"/>
              </a:rPr>
              <a:t> with interactive drill-downs</a:t>
            </a:r>
          </a:p>
          <a:p>
            <a:pPr>
              <a:spcBef>
                <a:spcPts val="400"/>
              </a:spcBef>
              <a:spcAft>
                <a:spcPts val="200"/>
              </a:spcAft>
            </a:pPr>
            <a:r>
              <a:rPr b="1" sz="1300">
                <a:solidFill>
                  <a:srgbClr val="333333"/>
                </a:solidFill>
                <a:latin typeface="Calibri"/>
              </a:rPr>
              <a:t>ML-powered forecasting and anomaly detection</a:t>
            </a:r>
            <a:r>
              <a:rPr sz="1300">
                <a:solidFill>
                  <a:srgbClr val="333333"/>
                </a:solidFill>
                <a:latin typeface="Calibri"/>
              </a:rPr>
              <a:t> using Cortex ML (no Python, no notebooks)</a:t>
            </a:r>
          </a:p>
          <a:p>
            <a:pPr>
              <a:spcBef>
                <a:spcPts val="400"/>
              </a:spcBef>
              <a:spcAft>
                <a:spcPts val="200"/>
              </a:spcAft>
            </a:pPr>
            <a:r>
              <a:rPr b="1" sz="1300">
                <a:solidFill>
                  <a:srgbClr val="333333"/>
                </a:solidFill>
                <a:latin typeface="Calibri"/>
              </a:rPr>
              <a:t>Natural language analytics</a:t>
            </a:r>
            <a:r>
              <a:rPr sz="1300">
                <a:solidFill>
                  <a:srgbClr val="333333"/>
                </a:solidFill>
                <a:latin typeface="Calibri"/>
              </a:rPr>
              <a:t> via Cortex Analyst — ask questions, get SQL + charts</a:t>
            </a:r>
          </a:p>
          <a:p>
            <a:pPr>
              <a:spcBef>
                <a:spcPts val="400"/>
              </a:spcBef>
              <a:spcAft>
                <a:spcPts val="200"/>
              </a:spcAft>
            </a:pPr>
            <a:r>
              <a:rPr b="1" sz="1300">
                <a:solidFill>
                  <a:srgbClr val="333333"/>
                </a:solidFill>
                <a:latin typeface="Calibri"/>
              </a:rPr>
              <a:t>Agentic AI</a:t>
            </a:r>
            <a:r>
              <a:rPr sz="1300">
                <a:solidFill>
                  <a:srgbClr val="333333"/>
                </a:solidFill>
                <a:latin typeface="Calibri"/>
              </a:rPr>
              <a:t> via Cortex Agent — multi-step reasoning with auto-execution</a:t>
            </a:r>
          </a:p>
          <a:p>
            <a:pPr>
              <a:spcBef>
                <a:spcPts val="400"/>
              </a:spcBef>
              <a:spcAft>
                <a:spcPts val="200"/>
              </a:spcAft>
            </a:pPr>
            <a:r>
              <a:rPr b="1" sz="1300">
                <a:solidFill>
                  <a:srgbClr val="333333"/>
                </a:solidFill>
                <a:latin typeface="Calibri"/>
              </a:rPr>
              <a:t>HIPAA-aligned governance</a:t>
            </a:r>
            <a:r>
              <a:rPr sz="1300">
                <a:solidFill>
                  <a:srgbClr val="333333"/>
                </a:solidFill>
                <a:latin typeface="Calibri"/>
              </a:rPr>
              <a:t> — differential masking, row-level security, tag-based classification</a:t>
            </a:r>
          </a:p>
          <a:p>
            <a:pPr>
              <a:spcBef>
                <a:spcPts val="400"/>
              </a:spcBef>
              <a:spcAft>
                <a:spcPts val="200"/>
              </a:spcAft>
            </a:pPr>
            <a:r>
              <a:rPr b="1" sz="1300">
                <a:solidFill>
                  <a:srgbClr val="333333"/>
                </a:solidFill>
                <a:latin typeface="Calibri"/>
              </a:rPr>
              <a:t>Automated pipelines</a:t>
            </a:r>
            <a:r>
              <a:rPr sz="1300">
                <a:solidFill>
                  <a:srgbClr val="333333"/>
                </a:solidFill>
                <a:latin typeface="Calibri"/>
              </a:rPr>
              <a:t> — Snowflake Task DAG refreshes marts and ML predictions daily</a:t>
            </a:r>
          </a:p>
        </p:txBody>
      </p:sp>
      <p:sp>
        <p:nvSpPr>
          <p:cNvPr id="8" name="TextBox 7"/>
          <p:cNvSpPr txBox="1"/>
          <p:nvPr/>
        </p:nvSpPr>
        <p:spPr>
          <a:xfrm>
            <a:off x="640080" y="4005071"/>
            <a:ext cx="10881360" cy="365760"/>
          </a:xfrm>
          <a:prstGeom prst="rect">
            <a:avLst/>
          </a:prstGeom>
          <a:noFill/>
        </p:spPr>
        <p:txBody>
          <a:bodyPr wrap="square">
            <a:spAutoFit/>
          </a:bodyPr>
          <a:lstStyle/>
          <a:p>
            <a:pPr algn="l">
              <a:defRPr sz="1800" b="1">
                <a:solidFill>
                  <a:srgbClr val="1B2A4A"/>
                </a:solidFill>
                <a:latin typeface="Calibri"/>
              </a:defRPr>
            </a:pPr>
            <a:r>
              <a:t>8 Use Cases</a:t>
            </a:r>
          </a:p>
        </p:txBody>
      </p:sp>
      <p:graphicFrame>
        <p:nvGraphicFramePr>
          <p:cNvPr id="9" name="Table 8"/>
          <p:cNvGraphicFramePr>
            <a:graphicFrameLocks noGrp="1"/>
          </p:cNvGraphicFramePr>
          <p:nvPr/>
        </p:nvGraphicFramePr>
        <p:xfrm>
          <a:off x="640080" y="4416551"/>
          <a:ext cx="10881360" cy="2880360"/>
        </p:xfrm>
        <a:graphic>
          <a:graphicData uri="http://schemas.openxmlformats.org/drawingml/2006/table">
            <a:tbl>
              <a:tblPr firstRow="1" bandRow="1">
                <a:tableStyleId>{5C22544A-7EE6-4342-B048-85BDC9FD1C3A}</a:tableStyleId>
              </a:tblPr>
              <a:tblGrid>
                <a:gridCol w="3627120"/>
                <a:gridCol w="3627120"/>
                <a:gridCol w="3627120"/>
              </a:tblGrid>
              <a:tr h="320040">
                <a:tc>
                  <a:txBody>
                    <a:bodyPr/>
                    <a:lstStyle/>
                    <a:p>
                      <a:pPr>
                        <a:defRPr sz="1100" b="1">
                          <a:solidFill>
                            <a:srgbClr val="FFFFFF"/>
                          </a:solidFill>
                          <a:latin typeface="Calibri"/>
                        </a:defRPr>
                      </a:pPr>
                      <a:r>
                        <a:t>#</a:t>
                      </a:r>
                    </a:p>
                  </a:txBody>
                  <a:tcPr>
                    <a:solidFill>
                      <a:srgbClr val="29B5E8"/>
                    </a:solidFill>
                  </a:tcPr>
                </a:tc>
                <a:tc>
                  <a:txBody>
                    <a:bodyPr/>
                    <a:lstStyle/>
                    <a:p>
                      <a:pPr>
                        <a:defRPr sz="1100" b="1">
                          <a:solidFill>
                            <a:srgbClr val="FFFFFF"/>
                          </a:solidFill>
                          <a:latin typeface="Calibri"/>
                        </a:defRPr>
                      </a:pPr>
                      <a:r>
                        <a:t>Use Case</a:t>
                      </a:r>
                    </a:p>
                  </a:txBody>
                  <a:tcPr>
                    <a:solidFill>
                      <a:srgbClr val="29B5E8"/>
                    </a:solidFill>
                  </a:tcPr>
                </a:tc>
                <a:tc>
                  <a:txBody>
                    <a:bodyPr/>
                    <a:lstStyle/>
                    <a:p>
                      <a:pPr>
                        <a:defRPr sz="1100" b="1">
                          <a:solidFill>
                            <a:srgbClr val="FFFFFF"/>
                          </a:solidFill>
                          <a:latin typeface="Calibri"/>
                        </a:defRPr>
                      </a:pPr>
                      <a:r>
                        <a:t>Category</a:t>
                      </a:r>
                    </a:p>
                  </a:txBody>
                  <a:tcPr>
                    <a:solidFill>
                      <a:srgbClr val="29B5E8"/>
                    </a:solidFill>
                  </a:tcPr>
                </a:tc>
              </a:tr>
              <a:tr h="320040">
                <a:tc>
                  <a:txBody>
                    <a:bodyPr/>
                    <a:lstStyle/>
                    <a:p>
                      <a:pPr>
                        <a:defRPr sz="1100">
                          <a:solidFill>
                            <a:srgbClr val="333333"/>
                          </a:solidFill>
                          <a:latin typeface="Calibri"/>
                        </a:defRPr>
                      </a:pPr>
                      <a:r>
                        <a:t>1</a:t>
                      </a:r>
                    </a:p>
                  </a:txBody>
                  <a:tcPr/>
                </a:tc>
                <a:tc>
                  <a:txBody>
                    <a:bodyPr/>
                    <a:lstStyle/>
                    <a:p>
                      <a:pPr>
                        <a:defRPr sz="1100">
                          <a:solidFill>
                            <a:srgbClr val="333333"/>
                          </a:solidFill>
                          <a:latin typeface="Calibri"/>
                        </a:defRPr>
                      </a:pPr>
                      <a:r>
                        <a:t>Patient Referral Leakage</a:t>
                      </a:r>
                    </a:p>
                  </a:txBody>
                  <a:tcPr/>
                </a:tc>
                <a:tc>
                  <a:txBody>
                    <a:bodyPr/>
                    <a:lstStyle/>
                    <a:p>
                      <a:pPr>
                        <a:defRPr sz="1100">
                          <a:solidFill>
                            <a:srgbClr val="333333"/>
                          </a:solidFill>
                          <a:latin typeface="Calibri"/>
                        </a:defRPr>
                      </a:pPr>
                      <a:r>
                        <a:t>Clinical</a:t>
                      </a:r>
                    </a:p>
                  </a:txBody>
                  <a:tcPr/>
                </a:tc>
              </a:tr>
              <a:tr h="320040">
                <a:tc>
                  <a:txBody>
                    <a:bodyPr/>
                    <a:lstStyle/>
                    <a:p>
                      <a:pPr>
                        <a:defRPr sz="1100">
                          <a:solidFill>
                            <a:srgbClr val="333333"/>
                          </a:solidFill>
                          <a:latin typeface="Calibri"/>
                        </a:defRPr>
                      </a:pPr>
                      <a:r>
                        <a:t>2</a:t>
                      </a:r>
                    </a:p>
                  </a:txBody>
                  <a:tcPr>
                    <a:solidFill>
                      <a:srgbClr val="EBF7FC"/>
                    </a:solidFill>
                  </a:tcPr>
                </a:tc>
                <a:tc>
                  <a:txBody>
                    <a:bodyPr/>
                    <a:lstStyle/>
                    <a:p>
                      <a:pPr>
                        <a:defRPr sz="1100">
                          <a:solidFill>
                            <a:srgbClr val="333333"/>
                          </a:solidFill>
                          <a:latin typeface="Calibri"/>
                        </a:defRPr>
                      </a:pPr>
                      <a:r>
                        <a:t>Readmission &amp; Length-of-Stay</a:t>
                      </a:r>
                    </a:p>
                  </a:txBody>
                  <a:tcPr>
                    <a:solidFill>
                      <a:srgbClr val="EBF7FC"/>
                    </a:solidFill>
                  </a:tcPr>
                </a:tc>
                <a:tc>
                  <a:txBody>
                    <a:bodyPr/>
                    <a:lstStyle/>
                    <a:p>
                      <a:pPr>
                        <a:defRPr sz="1100">
                          <a:solidFill>
                            <a:srgbClr val="333333"/>
                          </a:solidFill>
                          <a:latin typeface="Calibri"/>
                        </a:defRPr>
                      </a:pPr>
                      <a:r>
                        <a:t>Clinical</a:t>
                      </a:r>
                    </a:p>
                  </a:txBody>
                  <a:tcPr>
                    <a:solidFill>
                      <a:srgbClr val="EBF7FC"/>
                    </a:solidFill>
                  </a:tcPr>
                </a:tc>
              </a:tr>
              <a:tr h="320040">
                <a:tc>
                  <a:txBody>
                    <a:bodyPr/>
                    <a:lstStyle/>
                    <a:p>
                      <a:pPr>
                        <a:defRPr sz="1100">
                          <a:solidFill>
                            <a:srgbClr val="333333"/>
                          </a:solidFill>
                          <a:latin typeface="Calibri"/>
                        </a:defRPr>
                      </a:pPr>
                      <a:r>
                        <a:t>3</a:t>
                      </a:r>
                    </a:p>
                  </a:txBody>
                  <a:tcPr/>
                </a:tc>
                <a:tc>
                  <a:txBody>
                    <a:bodyPr/>
                    <a:lstStyle/>
                    <a:p>
                      <a:pPr>
                        <a:defRPr sz="1100">
                          <a:solidFill>
                            <a:srgbClr val="333333"/>
                          </a:solidFill>
                          <a:latin typeface="Calibri"/>
                        </a:defRPr>
                      </a:pPr>
                      <a:r>
                        <a:t>OR Capacity &amp; Utilization</a:t>
                      </a:r>
                    </a:p>
                  </a:txBody>
                  <a:tcPr/>
                </a:tc>
                <a:tc>
                  <a:txBody>
                    <a:bodyPr/>
                    <a:lstStyle/>
                    <a:p>
                      <a:pPr>
                        <a:defRPr sz="1100">
                          <a:solidFill>
                            <a:srgbClr val="333333"/>
                          </a:solidFill>
                          <a:latin typeface="Calibri"/>
                        </a:defRPr>
                      </a:pPr>
                      <a:r>
                        <a:t>Operations</a:t>
                      </a:r>
                    </a:p>
                  </a:txBody>
                  <a:tcPr/>
                </a:tc>
              </a:tr>
              <a:tr h="320040">
                <a:tc>
                  <a:txBody>
                    <a:bodyPr/>
                    <a:lstStyle/>
                    <a:p>
                      <a:pPr>
                        <a:defRPr sz="1100">
                          <a:solidFill>
                            <a:srgbClr val="333333"/>
                          </a:solidFill>
                          <a:latin typeface="Calibri"/>
                        </a:defRPr>
                      </a:pPr>
                      <a:r>
                        <a:t>4</a:t>
                      </a:r>
                    </a:p>
                  </a:txBody>
                  <a:tcPr>
                    <a:solidFill>
                      <a:srgbClr val="EBF7FC"/>
                    </a:solidFill>
                  </a:tcPr>
                </a:tc>
                <a:tc>
                  <a:txBody>
                    <a:bodyPr/>
                    <a:lstStyle/>
                    <a:p>
                      <a:pPr>
                        <a:defRPr sz="1100">
                          <a:solidFill>
                            <a:srgbClr val="333333"/>
                          </a:solidFill>
                          <a:latin typeface="Calibri"/>
                        </a:defRPr>
                      </a:pPr>
                      <a:r>
                        <a:t>Claim Denials &amp; Revenue Cycle</a:t>
                      </a:r>
                    </a:p>
                  </a:txBody>
                  <a:tcPr>
                    <a:solidFill>
                      <a:srgbClr val="EBF7FC"/>
                    </a:solidFill>
                  </a:tcPr>
                </a:tc>
                <a:tc>
                  <a:txBody>
                    <a:bodyPr/>
                    <a:lstStyle/>
                    <a:p>
                      <a:pPr>
                        <a:defRPr sz="1100">
                          <a:solidFill>
                            <a:srgbClr val="333333"/>
                          </a:solidFill>
                          <a:latin typeface="Calibri"/>
                        </a:defRPr>
                      </a:pPr>
                      <a:r>
                        <a:t>Financial</a:t>
                      </a:r>
                    </a:p>
                  </a:txBody>
                  <a:tcPr>
                    <a:solidFill>
                      <a:srgbClr val="EBF7FC"/>
                    </a:solidFill>
                  </a:tcPr>
                </a:tc>
              </a:tr>
              <a:tr h="320040">
                <a:tc>
                  <a:txBody>
                    <a:bodyPr/>
                    <a:lstStyle/>
                    <a:p>
                      <a:pPr>
                        <a:defRPr sz="1100">
                          <a:solidFill>
                            <a:srgbClr val="333333"/>
                          </a:solidFill>
                          <a:latin typeface="Calibri"/>
                        </a:defRPr>
                      </a:pPr>
                      <a:r>
                        <a:t>5</a:t>
                      </a:r>
                    </a:p>
                  </a:txBody>
                  <a:tcPr/>
                </a:tc>
                <a:tc>
                  <a:txBody>
                    <a:bodyPr/>
                    <a:lstStyle/>
                    <a:p>
                      <a:pPr>
                        <a:defRPr sz="1100">
                          <a:solidFill>
                            <a:srgbClr val="333333"/>
                          </a:solidFill>
                          <a:latin typeface="Calibri"/>
                        </a:defRPr>
                      </a:pPr>
                      <a:r>
                        <a:t>Encounter Volume Forecasting</a:t>
                      </a:r>
                    </a:p>
                  </a:txBody>
                  <a:tcPr/>
                </a:tc>
                <a:tc>
                  <a:txBody>
                    <a:bodyPr/>
                    <a:lstStyle/>
                    <a:p>
                      <a:pPr>
                        <a:defRPr sz="1100">
                          <a:solidFill>
                            <a:srgbClr val="333333"/>
                          </a:solidFill>
                          <a:latin typeface="Calibri"/>
                        </a:defRPr>
                      </a:pPr>
                      <a:r>
                        <a:t>Predictive ML</a:t>
                      </a:r>
                    </a:p>
                  </a:txBody>
                  <a:tcPr/>
                </a:tc>
              </a:tr>
              <a:tr h="320040">
                <a:tc>
                  <a:txBody>
                    <a:bodyPr/>
                    <a:lstStyle/>
                    <a:p>
                      <a:pPr>
                        <a:defRPr sz="1100">
                          <a:solidFill>
                            <a:srgbClr val="333333"/>
                          </a:solidFill>
                          <a:latin typeface="Calibri"/>
                        </a:defRPr>
                      </a:pPr>
                      <a:r>
                        <a:t>6</a:t>
                      </a:r>
                    </a:p>
                  </a:txBody>
                  <a:tcPr>
                    <a:solidFill>
                      <a:srgbClr val="EBF7FC"/>
                    </a:solidFill>
                  </a:tcPr>
                </a:tc>
                <a:tc>
                  <a:txBody>
                    <a:bodyPr/>
                    <a:lstStyle/>
                    <a:p>
                      <a:pPr>
                        <a:defRPr sz="1100">
                          <a:solidFill>
                            <a:srgbClr val="333333"/>
                          </a:solidFill>
                          <a:latin typeface="Calibri"/>
                        </a:defRPr>
                      </a:pPr>
                      <a:r>
                        <a:t>Conversational Analytics</a:t>
                      </a:r>
                    </a:p>
                  </a:txBody>
                  <a:tcPr>
                    <a:solidFill>
                      <a:srgbClr val="EBF7FC"/>
                    </a:solidFill>
                  </a:tcPr>
                </a:tc>
                <a:tc>
                  <a:txBody>
                    <a:bodyPr/>
                    <a:lstStyle/>
                    <a:p>
                      <a:pPr>
                        <a:defRPr sz="1100">
                          <a:solidFill>
                            <a:srgbClr val="333333"/>
                          </a:solidFill>
                          <a:latin typeface="Calibri"/>
                        </a:defRPr>
                      </a:pPr>
                      <a:r>
                        <a:t>AI / NLP</a:t>
                      </a:r>
                    </a:p>
                  </a:txBody>
                  <a:tcPr>
                    <a:solidFill>
                      <a:srgbClr val="EBF7FC"/>
                    </a:solidFill>
                  </a:tcPr>
                </a:tc>
              </a:tr>
              <a:tr h="320040">
                <a:tc>
                  <a:txBody>
                    <a:bodyPr/>
                    <a:lstStyle/>
                    <a:p>
                      <a:pPr>
                        <a:defRPr sz="1100">
                          <a:solidFill>
                            <a:srgbClr val="333333"/>
                          </a:solidFill>
                          <a:latin typeface="Calibri"/>
                        </a:defRPr>
                      </a:pPr>
                      <a:r>
                        <a:t>7</a:t>
                      </a:r>
                    </a:p>
                  </a:txBody>
                  <a:tcPr/>
                </a:tc>
                <a:tc>
                  <a:txBody>
                    <a:bodyPr/>
                    <a:lstStyle/>
                    <a:p>
                      <a:pPr>
                        <a:defRPr sz="1100">
                          <a:solidFill>
                            <a:srgbClr val="333333"/>
                          </a:solidFill>
                          <a:latin typeface="Calibri"/>
                        </a:defRPr>
                      </a:pPr>
                      <a:r>
                        <a:t>Agentic Hospital Intelligence</a:t>
                      </a:r>
                    </a:p>
                  </a:txBody>
                  <a:tcPr/>
                </a:tc>
                <a:tc>
                  <a:txBody>
                    <a:bodyPr/>
                    <a:lstStyle/>
                    <a:p>
                      <a:pPr>
                        <a:defRPr sz="1100">
                          <a:solidFill>
                            <a:srgbClr val="333333"/>
                          </a:solidFill>
                          <a:latin typeface="Calibri"/>
                        </a:defRPr>
                      </a:pPr>
                      <a:r>
                        <a:t>AI / Agentic</a:t>
                      </a:r>
                    </a:p>
                  </a:txBody>
                  <a:tcPr/>
                </a:tc>
              </a:tr>
              <a:tr h="320040">
                <a:tc>
                  <a:txBody>
                    <a:bodyPr/>
                    <a:lstStyle/>
                    <a:p>
                      <a:pPr>
                        <a:defRPr sz="1100">
                          <a:solidFill>
                            <a:srgbClr val="333333"/>
                          </a:solidFill>
                          <a:latin typeface="Calibri"/>
                        </a:defRPr>
                      </a:pPr>
                      <a:r>
                        <a:t>8</a:t>
                      </a:r>
                    </a:p>
                  </a:txBody>
                  <a:tcPr>
                    <a:solidFill>
                      <a:srgbClr val="EBF7FC"/>
                    </a:solidFill>
                  </a:tcPr>
                </a:tc>
                <a:tc>
                  <a:txBody>
                    <a:bodyPr/>
                    <a:lstStyle/>
                    <a:p>
                      <a:pPr>
                        <a:defRPr sz="1100">
                          <a:solidFill>
                            <a:srgbClr val="333333"/>
                          </a:solidFill>
                          <a:latin typeface="Calibri"/>
                        </a:defRPr>
                      </a:pPr>
                      <a:r>
                        <a:t>Operational Automation &amp; Monitoring</a:t>
                      </a:r>
                    </a:p>
                  </a:txBody>
                  <a:tcPr>
                    <a:solidFill>
                      <a:srgbClr val="EBF7FC"/>
                    </a:solidFill>
                  </a:tcPr>
                </a:tc>
                <a:tc>
                  <a:txBody>
                    <a:bodyPr/>
                    <a:lstStyle/>
                    <a:p>
                      <a:pPr>
                        <a:defRPr sz="1100">
                          <a:solidFill>
                            <a:srgbClr val="333333"/>
                          </a:solidFill>
                          <a:latin typeface="Calibri"/>
                        </a:defRPr>
                      </a:pPr>
                      <a:r>
                        <a:t>DataOps</a:t>
                      </a:r>
                    </a:p>
                  </a:txBody>
                  <a:tcPr>
                    <a:solidFill>
                      <a:srgbClr val="EBF7FC"/>
                    </a:solidFill>
                  </a:tcPr>
                </a:tc>
              </a:tr>
            </a:tbl>
          </a:graphicData>
        </a:graphic>
      </p:graphicFrame>
      <p:sp>
        <p:nvSpPr>
          <p:cNvPr id="10" name="TextBox 9"/>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Platform at a Glance</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Key Numbers</a:t>
            </a:r>
          </a:p>
        </p:txBody>
      </p:sp>
      <p:graphicFrame>
        <p:nvGraphicFramePr>
          <p:cNvPr id="5" name="Table 4"/>
          <p:cNvGraphicFramePr>
            <a:graphicFrameLocks noGrp="1"/>
          </p:cNvGraphicFramePr>
          <p:nvPr/>
        </p:nvGraphicFramePr>
        <p:xfrm>
          <a:off x="640080" y="1463040"/>
          <a:ext cx="10881360" cy="5120640"/>
        </p:xfrm>
        <a:graphic>
          <a:graphicData uri="http://schemas.openxmlformats.org/drawingml/2006/table">
            <a:tbl>
              <a:tblPr firstRow="1" bandRow="1">
                <a:tableStyleId>{5C22544A-7EE6-4342-B048-85BDC9FD1C3A}</a:tableStyleId>
              </a:tblPr>
              <a:tblGrid>
                <a:gridCol w="5440680"/>
                <a:gridCol w="5440680"/>
              </a:tblGrid>
              <a:tr h="320040">
                <a:tc>
                  <a:txBody>
                    <a:bodyPr/>
                    <a:lstStyle/>
                    <a:p>
                      <a:pPr>
                        <a:defRPr sz="1100" b="1">
                          <a:solidFill>
                            <a:srgbClr val="FFFFFF"/>
                          </a:solidFill>
                          <a:latin typeface="Calibri"/>
                        </a:defRPr>
                      </a:pPr>
                      <a:r>
                        <a:t>Metric</a:t>
                      </a:r>
                    </a:p>
                  </a:txBody>
                  <a:tcPr>
                    <a:solidFill>
                      <a:srgbClr val="29B5E8"/>
                    </a:solidFill>
                  </a:tcPr>
                </a:tc>
                <a:tc>
                  <a:txBody>
                    <a:bodyPr/>
                    <a:lstStyle/>
                    <a:p>
                      <a:pPr>
                        <a:defRPr sz="1100" b="1">
                          <a:solidFill>
                            <a:srgbClr val="FFFFFF"/>
                          </a:solidFill>
                          <a:latin typeface="Calibri"/>
                        </a:defRPr>
                      </a:pPr>
                      <a:r>
                        <a:t>Value</a:t>
                      </a:r>
                    </a:p>
                  </a:txBody>
                  <a:tcPr>
                    <a:solidFill>
                      <a:srgbClr val="29B5E8"/>
                    </a:solidFill>
                  </a:tcPr>
                </a:tc>
              </a:tr>
              <a:tr h="320040">
                <a:tc>
                  <a:txBody>
                    <a:bodyPr/>
                    <a:lstStyle/>
                    <a:p>
                      <a:pPr>
                        <a:defRPr sz="1100">
                          <a:solidFill>
                            <a:srgbClr val="333333"/>
                          </a:solidFill>
                          <a:latin typeface="Calibri"/>
                        </a:defRPr>
                      </a:pPr>
                      <a:r>
                        <a:t>Databases</a:t>
                      </a:r>
                    </a:p>
                  </a:txBody>
                  <a:tcPr/>
                </a:tc>
                <a:tc>
                  <a:txBody>
                    <a:bodyPr/>
                    <a:lstStyle/>
                    <a:p>
                      <a:pPr>
                        <a:defRPr sz="1100">
                          <a:solidFill>
                            <a:srgbClr val="333333"/>
                          </a:solidFill>
                          <a:latin typeface="Calibri"/>
                        </a:defRPr>
                      </a:pPr>
                      <a:r>
                        <a:t>5 (RAW, INT, CUR, ML, APP)</a:t>
                      </a:r>
                    </a:p>
                  </a:txBody>
                  <a:tcPr/>
                </a:tc>
              </a:tr>
              <a:tr h="320040">
                <a:tc>
                  <a:txBody>
                    <a:bodyPr/>
                    <a:lstStyle/>
                    <a:p>
                      <a:pPr>
                        <a:defRPr sz="1100">
                          <a:solidFill>
                            <a:srgbClr val="333333"/>
                          </a:solidFill>
                          <a:latin typeface="Calibri"/>
                        </a:defRPr>
                      </a:pPr>
                      <a:r>
                        <a:t>Schemas</a:t>
                      </a:r>
                    </a:p>
                  </a:txBody>
                  <a:tcPr>
                    <a:solidFill>
                      <a:srgbClr val="EBF7FC"/>
                    </a:solidFill>
                  </a:tcPr>
                </a:tc>
                <a:tc>
                  <a:txBody>
                    <a:bodyPr/>
                    <a:lstStyle/>
                    <a:p>
                      <a:pPr>
                        <a:defRPr sz="1100">
                          <a:solidFill>
                            <a:srgbClr val="333333"/>
                          </a:solidFill>
                          <a:latin typeface="Calibri"/>
                        </a:defRPr>
                      </a:pPr>
                      <a:r>
                        <a:t>30+</a:t>
                      </a:r>
                    </a:p>
                  </a:txBody>
                  <a:tcPr>
                    <a:solidFill>
                      <a:srgbClr val="EBF7FC"/>
                    </a:solidFill>
                  </a:tcPr>
                </a:tc>
              </a:tr>
              <a:tr h="320040">
                <a:tc>
                  <a:txBody>
                    <a:bodyPr/>
                    <a:lstStyle/>
                    <a:p>
                      <a:pPr>
                        <a:defRPr sz="1100">
                          <a:solidFill>
                            <a:srgbClr val="333333"/>
                          </a:solidFill>
                          <a:latin typeface="Calibri"/>
                        </a:defRPr>
                      </a:pPr>
                      <a:r>
                        <a:t>Dimension Tables</a:t>
                      </a:r>
                    </a:p>
                  </a:txBody>
                  <a:tcPr/>
                </a:tc>
                <a:tc>
                  <a:txBody>
                    <a:bodyPr/>
                    <a:lstStyle/>
                    <a:p>
                      <a:pPr>
                        <a:defRPr sz="1100">
                          <a:solidFill>
                            <a:srgbClr val="333333"/>
                          </a:solidFill>
                          <a:latin typeface="Calibri"/>
                        </a:defRPr>
                      </a:pPr>
                      <a:r>
                        <a:t>10 (25K patients, 200 providers, 5 facilities)</a:t>
                      </a:r>
                    </a:p>
                  </a:txBody>
                  <a:tcPr/>
                </a:tc>
              </a:tr>
              <a:tr h="320040">
                <a:tc>
                  <a:txBody>
                    <a:bodyPr/>
                    <a:lstStyle/>
                    <a:p>
                      <a:pPr>
                        <a:defRPr sz="1100">
                          <a:solidFill>
                            <a:srgbClr val="333333"/>
                          </a:solidFill>
                          <a:latin typeface="Calibri"/>
                        </a:defRPr>
                      </a:pPr>
                      <a:r>
                        <a:t>Fact Tables</a:t>
                      </a:r>
                    </a:p>
                  </a:txBody>
                  <a:tcPr>
                    <a:solidFill>
                      <a:srgbClr val="EBF7FC"/>
                    </a:solidFill>
                  </a:tcPr>
                </a:tc>
                <a:tc>
                  <a:txBody>
                    <a:bodyPr/>
                    <a:lstStyle/>
                    <a:p>
                      <a:pPr>
                        <a:defRPr sz="1100">
                          <a:solidFill>
                            <a:srgbClr val="333333"/>
                          </a:solidFill>
                          <a:latin typeface="Calibri"/>
                        </a:defRPr>
                      </a:pPr>
                      <a:r>
                        <a:t>12 (~5M total rows)</a:t>
                      </a:r>
                    </a:p>
                  </a:txBody>
                  <a:tcPr>
                    <a:solidFill>
                      <a:srgbClr val="EBF7FC"/>
                    </a:solidFill>
                  </a:tcPr>
                </a:tc>
              </a:tr>
              <a:tr h="320040">
                <a:tc>
                  <a:txBody>
                    <a:bodyPr/>
                    <a:lstStyle/>
                    <a:p>
                      <a:pPr>
                        <a:defRPr sz="1100">
                          <a:solidFill>
                            <a:srgbClr val="333333"/>
                          </a:solidFill>
                          <a:latin typeface="Calibri"/>
                        </a:defRPr>
                      </a:pPr>
                      <a:r>
                        <a:t>Use-Case Marts</a:t>
                      </a:r>
                    </a:p>
                  </a:txBody>
                  <a:tcPr/>
                </a:tc>
                <a:tc>
                  <a:txBody>
                    <a:bodyPr/>
                    <a:lstStyle/>
                    <a:p>
                      <a:pPr>
                        <a:defRPr sz="1100">
                          <a:solidFill>
                            <a:srgbClr val="333333"/>
                          </a:solidFill>
                          <a:latin typeface="Calibri"/>
                        </a:defRPr>
                      </a:pPr>
                      <a:r>
                        <a:t>4 (48K – 116K rows each)</a:t>
                      </a:r>
                    </a:p>
                  </a:txBody>
                  <a:tcPr/>
                </a:tc>
              </a:tr>
              <a:tr h="320040">
                <a:tc>
                  <a:txBody>
                    <a:bodyPr/>
                    <a:lstStyle/>
                    <a:p>
                      <a:pPr>
                        <a:defRPr sz="1100">
                          <a:solidFill>
                            <a:srgbClr val="333333"/>
                          </a:solidFill>
                          <a:latin typeface="Calibri"/>
                        </a:defRPr>
                      </a:pPr>
                      <a:r>
                        <a:t>ML Models</a:t>
                      </a:r>
                    </a:p>
                  </a:txBody>
                  <a:tcPr>
                    <a:solidFill>
                      <a:srgbClr val="EBF7FC"/>
                    </a:solidFill>
                  </a:tcPr>
                </a:tc>
                <a:tc>
                  <a:txBody>
                    <a:bodyPr/>
                    <a:lstStyle/>
                    <a:p>
                      <a:pPr>
                        <a:defRPr sz="1100">
                          <a:solidFill>
                            <a:srgbClr val="333333"/>
                          </a:solidFill>
                          <a:latin typeface="Calibri"/>
                        </a:defRPr>
                      </a:pPr>
                      <a:r>
                        <a:t>4 (Forecast, Anomaly Detection, 2x Top Insights)</a:t>
                      </a:r>
                    </a:p>
                  </a:txBody>
                  <a:tcPr>
                    <a:solidFill>
                      <a:srgbClr val="EBF7FC"/>
                    </a:solidFill>
                  </a:tcPr>
                </a:tc>
              </a:tr>
              <a:tr h="320040">
                <a:tc>
                  <a:txBody>
                    <a:bodyPr/>
                    <a:lstStyle/>
                    <a:p>
                      <a:pPr>
                        <a:defRPr sz="1100">
                          <a:solidFill>
                            <a:srgbClr val="333333"/>
                          </a:solidFill>
                          <a:latin typeface="Calibri"/>
                        </a:defRPr>
                      </a:pPr>
                      <a:r>
                        <a:t>ML Predictions</a:t>
                      </a:r>
                    </a:p>
                  </a:txBody>
                  <a:tcPr/>
                </a:tc>
                <a:tc>
                  <a:txBody>
                    <a:bodyPr/>
                    <a:lstStyle/>
                    <a:p>
                      <a:pPr>
                        <a:defRPr sz="1100">
                          <a:solidFill>
                            <a:srgbClr val="333333"/>
                          </a:solidFill>
                          <a:latin typeface="Calibri"/>
                        </a:defRPr>
                      </a:pPr>
                      <a:r>
                        <a:t>1,286 rows across 4 tables</a:t>
                      </a:r>
                    </a:p>
                  </a:txBody>
                  <a:tcPr/>
                </a:tc>
              </a:tr>
              <a:tr h="320040">
                <a:tc>
                  <a:txBody>
                    <a:bodyPr/>
                    <a:lstStyle/>
                    <a:p>
                      <a:pPr>
                        <a:defRPr sz="1100">
                          <a:solidFill>
                            <a:srgbClr val="333333"/>
                          </a:solidFill>
                          <a:latin typeface="Calibri"/>
                        </a:defRPr>
                      </a:pPr>
                      <a:r>
                        <a:t>Semantic Views</a:t>
                      </a:r>
                    </a:p>
                  </a:txBody>
                  <a:tcPr>
                    <a:solidFill>
                      <a:srgbClr val="EBF7FC"/>
                    </a:solidFill>
                  </a:tcPr>
                </a:tc>
                <a:tc>
                  <a:txBody>
                    <a:bodyPr/>
                    <a:lstStyle/>
                    <a:p>
                      <a:pPr>
                        <a:defRPr sz="1100">
                          <a:solidFill>
                            <a:srgbClr val="333333"/>
                          </a:solidFill>
                          <a:latin typeface="Calibri"/>
                        </a:defRPr>
                      </a:pPr>
                      <a:r>
                        <a:t>1 unified (6 tables, 18 metrics, 12 verified queries)</a:t>
                      </a:r>
                    </a:p>
                  </a:txBody>
                  <a:tcPr>
                    <a:solidFill>
                      <a:srgbClr val="EBF7FC"/>
                    </a:solidFill>
                  </a:tcPr>
                </a:tc>
              </a:tr>
              <a:tr h="320040">
                <a:tc>
                  <a:txBody>
                    <a:bodyPr/>
                    <a:lstStyle/>
                    <a:p>
                      <a:pPr>
                        <a:defRPr sz="1100">
                          <a:solidFill>
                            <a:srgbClr val="333333"/>
                          </a:solidFill>
                          <a:latin typeface="Calibri"/>
                        </a:defRPr>
                      </a:pPr>
                      <a:r>
                        <a:t>Cortex Agents</a:t>
                      </a:r>
                    </a:p>
                  </a:txBody>
                  <a:tcPr/>
                </a:tc>
                <a:tc>
                  <a:txBody>
                    <a:bodyPr/>
                    <a:lstStyle/>
                    <a:p>
                      <a:pPr>
                        <a:defRPr sz="1100">
                          <a:solidFill>
                            <a:srgbClr val="333333"/>
                          </a:solidFill>
                          <a:latin typeface="Calibri"/>
                        </a:defRPr>
                      </a:pPr>
                      <a:r>
                        <a:t>1 (agentic text-to-SQL with auto-execution)</a:t>
                      </a:r>
                    </a:p>
                  </a:txBody>
                  <a:tcPr/>
                </a:tc>
              </a:tr>
              <a:tr h="320040">
                <a:tc>
                  <a:txBody>
                    <a:bodyPr/>
                    <a:lstStyle/>
                    <a:p>
                      <a:pPr>
                        <a:defRPr sz="1100">
                          <a:solidFill>
                            <a:srgbClr val="333333"/>
                          </a:solidFill>
                          <a:latin typeface="Calibri"/>
                        </a:defRPr>
                      </a:pPr>
                      <a:r>
                        <a:t>Streamlit Pages</a:t>
                      </a:r>
                    </a:p>
                  </a:txBody>
                  <a:tcPr>
                    <a:solidFill>
                      <a:srgbClr val="EBF7FC"/>
                    </a:solidFill>
                  </a:tcPr>
                </a:tc>
                <a:tc>
                  <a:txBody>
                    <a:bodyPr/>
                    <a:lstStyle/>
                    <a:p>
                      <a:pPr>
                        <a:defRPr sz="1100">
                          <a:solidFill>
                            <a:srgbClr val="333333"/>
                          </a:solidFill>
                          <a:latin typeface="Calibri"/>
                        </a:defRPr>
                      </a:pPr>
                      <a:r>
                        <a:t>9 (container runtime on compute pool)</a:t>
                      </a:r>
                    </a:p>
                  </a:txBody>
                  <a:tcPr>
                    <a:solidFill>
                      <a:srgbClr val="EBF7FC"/>
                    </a:solidFill>
                  </a:tcPr>
                </a:tc>
              </a:tr>
              <a:tr h="320040">
                <a:tc>
                  <a:txBody>
                    <a:bodyPr/>
                    <a:lstStyle/>
                    <a:p>
                      <a:pPr>
                        <a:defRPr sz="1100">
                          <a:solidFill>
                            <a:srgbClr val="333333"/>
                          </a:solidFill>
                          <a:latin typeface="Calibri"/>
                        </a:defRPr>
                      </a:pPr>
                      <a:r>
                        <a:t>Snowflake Tasks</a:t>
                      </a:r>
                    </a:p>
                  </a:txBody>
                  <a:tcPr/>
                </a:tc>
                <a:tc>
                  <a:txBody>
                    <a:bodyPr/>
                    <a:lstStyle/>
                    <a:p>
                      <a:pPr>
                        <a:defRPr sz="1100">
                          <a:solidFill>
                            <a:srgbClr val="333333"/>
                          </a:solidFill>
                          <a:latin typeface="Calibri"/>
                        </a:defRPr>
                      </a:pPr>
                      <a:r>
                        <a:t>5-task DAG (daily pipeline refresh)</a:t>
                      </a:r>
                    </a:p>
                  </a:txBody>
                  <a:tcPr/>
                </a:tc>
              </a:tr>
              <a:tr h="320040">
                <a:tc>
                  <a:txBody>
                    <a:bodyPr/>
                    <a:lstStyle/>
                    <a:p>
                      <a:pPr>
                        <a:defRPr sz="1100">
                          <a:solidFill>
                            <a:srgbClr val="333333"/>
                          </a:solidFill>
                          <a:latin typeface="Calibri"/>
                        </a:defRPr>
                      </a:pPr>
                      <a:r>
                        <a:t>Governance Objects</a:t>
                      </a:r>
                    </a:p>
                  </a:txBody>
                  <a:tcPr>
                    <a:solidFill>
                      <a:srgbClr val="EBF7FC"/>
                    </a:solidFill>
                  </a:tcPr>
                </a:tc>
                <a:tc>
                  <a:txBody>
                    <a:bodyPr/>
                    <a:lstStyle/>
                    <a:p>
                      <a:pPr>
                        <a:defRPr sz="1100">
                          <a:solidFill>
                            <a:srgbClr val="333333"/>
                          </a:solidFill>
                          <a:latin typeface="Calibri"/>
                        </a:defRPr>
                      </a:pPr>
                      <a:r>
                        <a:t>4 tags, 6 masking policies, 2 row-access policies</a:t>
                      </a:r>
                    </a:p>
                  </a:txBody>
                  <a:tcPr>
                    <a:solidFill>
                      <a:srgbClr val="EBF7FC"/>
                    </a:solidFill>
                  </a:tcPr>
                </a:tc>
              </a:tr>
              <a:tr h="320040">
                <a:tc>
                  <a:txBody>
                    <a:bodyPr/>
                    <a:lstStyle/>
                    <a:p>
                      <a:pPr>
                        <a:defRPr sz="1100">
                          <a:solidFill>
                            <a:srgbClr val="333333"/>
                          </a:solidFill>
                          <a:latin typeface="Calibri"/>
                        </a:defRPr>
                      </a:pPr>
                      <a:r>
                        <a:t>Functional Roles</a:t>
                      </a:r>
                    </a:p>
                  </a:txBody>
                  <a:tcPr/>
                </a:tc>
                <a:tc>
                  <a:txBody>
                    <a:bodyPr/>
                    <a:lstStyle/>
                    <a:p>
                      <a:pPr>
                        <a:defRPr sz="1100">
                          <a:solidFill>
                            <a:srgbClr val="333333"/>
                          </a:solidFill>
                          <a:latin typeface="Calibri"/>
                        </a:defRPr>
                      </a:pPr>
                      <a:r>
                        <a:t>6 (Admin, Engineer, Analyst, Clinician, Finance, Executive)</a:t>
                      </a:r>
                    </a:p>
                  </a:txBody>
                  <a:tcPr/>
                </a:tc>
              </a:tr>
              <a:tr h="320040">
                <a:tc>
                  <a:txBody>
                    <a:bodyPr/>
                    <a:lstStyle/>
                    <a:p>
                      <a:pPr>
                        <a:defRPr sz="1100">
                          <a:solidFill>
                            <a:srgbClr val="333333"/>
                          </a:solidFill>
                          <a:latin typeface="Calibri"/>
                        </a:defRPr>
                      </a:pPr>
                      <a:r>
                        <a:t>Warehouses</a:t>
                      </a:r>
                    </a:p>
                  </a:txBody>
                  <a:tcPr>
                    <a:solidFill>
                      <a:srgbClr val="EBF7FC"/>
                    </a:solidFill>
                  </a:tcPr>
                </a:tc>
                <a:tc>
                  <a:txBody>
                    <a:bodyPr/>
                    <a:lstStyle/>
                    <a:p>
                      <a:pPr>
                        <a:defRPr sz="1100">
                          <a:solidFill>
                            <a:srgbClr val="333333"/>
                          </a:solidFill>
                          <a:latin typeface="Calibri"/>
                        </a:defRPr>
                      </a:pPr>
                      <a:r>
                        <a:t>4 (Load, Transform, BI, ML)</a:t>
                      </a:r>
                    </a:p>
                  </a:txBody>
                  <a:tcPr>
                    <a:solidFill>
                      <a:srgbClr val="EBF7FC"/>
                    </a:solidFill>
                  </a:tcPr>
                </a:tc>
              </a:tr>
              <a:tr h="320040">
                <a:tc>
                  <a:txBody>
                    <a:bodyPr/>
                    <a:lstStyle/>
                    <a:p>
                      <a:pPr>
                        <a:defRPr sz="1100">
                          <a:solidFill>
                            <a:srgbClr val="333333"/>
                          </a:solidFill>
                          <a:latin typeface="Calibri"/>
                        </a:defRPr>
                      </a:pPr>
                      <a:r>
                        <a:t>Data Range</a:t>
                      </a:r>
                    </a:p>
                  </a:txBody>
                  <a:tcPr/>
                </a:tc>
                <a:tc>
                  <a:txBody>
                    <a:bodyPr/>
                    <a:lstStyle/>
                    <a:p>
                      <a:pPr>
                        <a:defRPr sz="1100">
                          <a:solidFill>
                            <a:srgbClr val="333333"/>
                          </a:solidFill>
                          <a:latin typeface="Calibri"/>
                        </a:defRPr>
                      </a:pPr>
                      <a:r>
                        <a:t>Jul 2023 – Dec 2024 (548 days, 5 facilities)</a:t>
                      </a:r>
                    </a:p>
                  </a:txBody>
                  <a:tcPr/>
                </a:tc>
              </a:tr>
            </a:tbl>
          </a:graphicData>
        </a:graphic>
      </p:graphicFrame>
      <p:sp>
        <p:nvSpPr>
          <p:cNvPr id="6" name="TextBox 5"/>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Architecture</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Medallion Architecture on Snowflake</a:t>
            </a:r>
          </a:p>
        </p:txBody>
      </p:sp>
      <p:sp>
        <p:nvSpPr>
          <p:cNvPr id="5" name="Rectangle 4"/>
          <p:cNvSpPr/>
          <p:nvPr/>
        </p:nvSpPr>
        <p:spPr>
          <a:xfrm>
            <a:off x="640080" y="1463040"/>
            <a:ext cx="10881360" cy="791870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10607040" cy="7735824"/>
          </a:xfrm>
          <a:prstGeom prst="rect">
            <a:avLst/>
          </a:prstGeom>
          <a:noFill/>
        </p:spPr>
        <p:txBody>
          <a:bodyPr wrap="square">
            <a:spAutoFit/>
          </a:bodyPr>
          <a:lstStyle/>
          <a:p>
            <a:pPr>
              <a:spcBef>
                <a:spcPts val="100"/>
              </a:spcBef>
              <a:spcAft>
                <a:spcPts val="100"/>
              </a:spcAft>
              <a:defRPr sz="900">
                <a:solidFill>
                  <a:srgbClr val="333333"/>
                </a:solidFill>
                <a:latin typeface="Consolas"/>
              </a:defRPr>
            </a:pPr>
            <a:r>
              <a:t>Epic / EHR / Claims / ERP Sources</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  HOSPITAL360_RAW    │   8 source schemas (EPIC, ERP, HR, CLAIMS, ...)</a:t>
            </a:r>
          </a:p>
          <a:p>
            <a:pPr>
              <a:spcBef>
                <a:spcPts val="100"/>
              </a:spcBef>
              <a:spcAft>
                <a:spcPts val="100"/>
              </a:spcAft>
              <a:defRPr sz="900">
                <a:solidFill>
                  <a:srgbClr val="333333"/>
                </a:solidFill>
                <a:latin typeface="Consolas"/>
              </a:defRPr>
            </a:pPr>
            <a:r>
              <a:t>    │  Landing Zone       │   File formats, stages, raw ingestion</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  HOSPITAL360_INT    │   5 domain schemas (CLINICAL, FINANCIAL, OPS, ...)</a:t>
            </a:r>
          </a:p>
          <a:p>
            <a:pPr>
              <a:spcBef>
                <a:spcPts val="100"/>
              </a:spcBef>
              <a:spcAft>
                <a:spcPts val="100"/>
              </a:spcAft>
              <a:defRPr sz="900">
                <a:solidFill>
                  <a:srgbClr val="333333"/>
                </a:solidFill>
                <a:latin typeface="Consolas"/>
              </a:defRPr>
            </a:pPr>
            <a:r>
              <a:t>    │  Integration Layer  │   Conforming, cleansing, deduplication</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  HOSPITAL360_CUR — Curated Layer                       │</a:t>
            </a:r>
          </a:p>
          <a:p>
            <a:pPr>
              <a:spcBef>
                <a:spcPts val="100"/>
              </a:spcBef>
              <a:spcAft>
                <a:spcPts val="100"/>
              </a:spcAft>
              <a:defRPr sz="900">
                <a:solidFill>
                  <a:srgbClr val="333333"/>
                </a:solidFill>
                <a:latin typeface="Consolas"/>
              </a:defRPr>
            </a:pPr>
            <a:r>
              <a:t>    │                                                        │</a:t>
            </a:r>
          </a:p>
          <a:p>
            <a:pPr>
              <a:spcBef>
                <a:spcPts val="100"/>
              </a:spcBef>
              <a:spcAft>
                <a:spcPts val="100"/>
              </a:spcAft>
              <a:defRPr sz="900">
                <a:solidFill>
                  <a:srgbClr val="333333"/>
                </a:solidFill>
                <a:latin typeface="Consolas"/>
              </a:defRPr>
            </a:pPr>
            <a:r>
              <a:t>    │  10 Dimensions    12 Facts    4 Use-Case Marts         │</a:t>
            </a:r>
          </a:p>
          <a:p>
            <a:pPr>
              <a:spcBef>
                <a:spcPts val="100"/>
              </a:spcBef>
              <a:spcAft>
                <a:spcPts val="100"/>
              </a:spcAft>
              <a:defRPr sz="900">
                <a:solidFill>
                  <a:srgbClr val="333333"/>
                </a:solidFill>
                <a:latin typeface="Consolas"/>
              </a:defRPr>
            </a:pPr>
            <a:r>
              <a:t>    │  ──────────────   ────────    ────────────────          │</a:t>
            </a:r>
          </a:p>
          <a:p>
            <a:pPr>
              <a:spcBef>
                <a:spcPts val="100"/>
              </a:spcBef>
              <a:spcAft>
                <a:spcPts val="100"/>
              </a:spcAft>
              <a:defRPr sz="900">
                <a:solidFill>
                  <a:srgbClr val="333333"/>
                </a:solidFill>
                <a:latin typeface="Consolas"/>
              </a:defRPr>
            </a:pPr>
            <a:r>
              <a:t>    │  DIM_PATIENT      FCT_ENCOUNTER    MART_READMISSION_LOS│</a:t>
            </a:r>
          </a:p>
          <a:p>
            <a:pPr>
              <a:spcBef>
                <a:spcPts val="100"/>
              </a:spcBef>
              <a:spcAft>
                <a:spcPts val="100"/>
              </a:spcAft>
              <a:defRPr sz="900">
                <a:solidFill>
                  <a:srgbClr val="333333"/>
                </a:solidFill>
                <a:latin typeface="Consolas"/>
              </a:defRPr>
            </a:pPr>
            <a:r>
              <a:t>    │  DIM_PROVIDER     FCT_CLAIM_LINE   MART_PATIENT_LEAKAGE│</a:t>
            </a:r>
          </a:p>
          <a:p>
            <a:pPr>
              <a:spcBef>
                <a:spcPts val="100"/>
              </a:spcBef>
              <a:spcAft>
                <a:spcPts val="100"/>
              </a:spcAft>
              <a:defRPr sz="900">
                <a:solidFill>
                  <a:srgbClr val="333333"/>
                </a:solidFill>
                <a:latin typeface="Consolas"/>
              </a:defRPr>
            </a:pPr>
            <a:r>
              <a:t>    │  DIM_FACILITY     FCT_OR_CASE      MART_OR_CAPACITY    │</a:t>
            </a:r>
          </a:p>
          <a:p>
            <a:pPr>
              <a:spcBef>
                <a:spcPts val="100"/>
              </a:spcBef>
              <a:spcAft>
                <a:spcPts val="100"/>
              </a:spcAft>
              <a:defRPr sz="900">
                <a:solidFill>
                  <a:srgbClr val="333333"/>
                </a:solidFill>
                <a:latin typeface="Consolas"/>
              </a:defRPr>
            </a:pPr>
            <a:r>
              <a:t>    │  DIM_PAYER        FCT_REFERRAL     MART_DENIALS_REVCYCLE│</a:t>
            </a:r>
          </a:p>
          <a:p>
            <a:pPr>
              <a:spcBef>
                <a:spcPts val="100"/>
              </a:spcBef>
              <a:spcAft>
                <a:spcPts val="100"/>
              </a:spcAft>
              <a:defRPr sz="900">
                <a:solidFill>
                  <a:srgbClr val="333333"/>
                </a:solidFill>
                <a:latin typeface="Consolas"/>
              </a:defRPr>
            </a:pPr>
            <a:r>
              <a:t>    │  + 6 more         + 8 more                             │</a:t>
            </a:r>
          </a:p>
          <a:p>
            <a:pPr>
              <a:spcBef>
                <a:spcPts val="100"/>
              </a:spcBef>
              <a:spcAft>
                <a:spcPts val="100"/>
              </a:spcAft>
              <a:defRPr sz="900">
                <a:solidFill>
                  <a:srgbClr val="333333"/>
                </a:solidFill>
                <a:latin typeface="Consolas"/>
              </a:defRPr>
            </a:pPr>
            <a:r>
              <a:t>    │                                                        │</a:t>
            </a:r>
          </a:p>
          <a:p>
            <a:pPr>
              <a:spcBef>
                <a:spcPts val="100"/>
              </a:spcBef>
              <a:spcAft>
                <a:spcPts val="100"/>
              </a:spcAft>
              <a:defRPr sz="900">
                <a:solidFill>
                  <a:srgbClr val="333333"/>
                </a:solidFill>
                <a:latin typeface="Consolas"/>
              </a:defRPr>
            </a:pPr>
            <a:r>
              <a:t>    │  GOVERNANCE: Tags, Masking Policies, Row-Access Policies│</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  HOSPITAL360_ML — Machine Learning Layer               │</a:t>
            </a:r>
          </a:p>
          <a:p>
            <a:pPr>
              <a:spcBef>
                <a:spcPts val="100"/>
              </a:spcBef>
              <a:spcAft>
                <a:spcPts val="100"/>
              </a:spcAft>
              <a:defRPr sz="900">
                <a:solidFill>
                  <a:srgbClr val="333333"/>
                </a:solidFill>
                <a:latin typeface="Consolas"/>
              </a:defRPr>
            </a:pPr>
            <a:r>
              <a:t>    │  4 Feature Views → 4 Models → 4 Prediction Tables      │</a:t>
            </a:r>
          </a:p>
          <a:p>
            <a:pPr>
              <a:spcBef>
                <a:spcPts val="100"/>
              </a:spcBef>
              <a:spcAft>
                <a:spcPts val="100"/>
              </a:spcAft>
              <a:defRPr sz="900">
                <a:solidFill>
                  <a:srgbClr val="333333"/>
                </a:solidFill>
                <a:latin typeface="Consolas"/>
              </a:defRPr>
            </a:pPr>
            <a:r>
              <a:t>    │  + MONITORING: Task DAG, Pipeline Logs, DQ Checks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a:t>
            </a:r>
          </a:p>
          <a:p>
            <a:pPr>
              <a:spcBef>
                <a:spcPts val="100"/>
              </a:spcBef>
              <a:spcAft>
                <a:spcPts val="100"/>
              </a:spcAft>
              <a:defRPr sz="900">
                <a:solidFill>
                  <a:srgbClr val="333333"/>
                </a:solidFill>
                <a:latin typeface="Consolas"/>
              </a:defRPr>
            </a:pPr>
            <a:r>
              <a:t>    │  HOSPITAL360_APP — Application Layer                   │</a:t>
            </a:r>
          </a:p>
          <a:p>
            <a:pPr>
              <a:spcBef>
                <a:spcPts val="100"/>
              </a:spcBef>
              <a:spcAft>
                <a:spcPts val="100"/>
              </a:spcAft>
              <a:defRPr sz="900">
                <a:solidFill>
                  <a:srgbClr val="333333"/>
                </a:solidFill>
                <a:latin typeface="Consolas"/>
              </a:defRPr>
            </a:pPr>
            <a:r>
              <a:t>    │  Streamlit (9 pages, container runtime)                │</a:t>
            </a:r>
          </a:p>
          <a:p>
            <a:pPr>
              <a:spcBef>
                <a:spcPts val="100"/>
              </a:spcBef>
              <a:spcAft>
                <a:spcPts val="100"/>
              </a:spcAft>
              <a:defRPr sz="900">
                <a:solidFill>
                  <a:srgbClr val="333333"/>
                </a:solidFill>
                <a:latin typeface="Consolas"/>
              </a:defRPr>
            </a:pPr>
            <a:r>
              <a:t>    │  Semantic View (6 tables, 18 metrics)                  │</a:t>
            </a:r>
          </a:p>
          <a:p>
            <a:pPr>
              <a:spcBef>
                <a:spcPts val="100"/>
              </a:spcBef>
              <a:spcAft>
                <a:spcPts val="100"/>
              </a:spcAft>
              <a:defRPr sz="900">
                <a:solidFill>
                  <a:srgbClr val="333333"/>
                </a:solidFill>
                <a:latin typeface="Consolas"/>
              </a:defRPr>
            </a:pPr>
            <a:r>
              <a:t>    │  Cortex Agent (agentic text-to-SQL)                    │</a:t>
            </a:r>
          </a:p>
          <a:p>
            <a:pPr>
              <a:spcBef>
                <a:spcPts val="100"/>
              </a:spcBef>
              <a:spcAft>
                <a:spcPts val="100"/>
              </a:spcAft>
              <a:defRPr sz="900">
                <a:solidFill>
                  <a:srgbClr val="333333"/>
                </a:solidFill>
                <a:latin typeface="Consolas"/>
              </a:defRPr>
            </a:pPr>
            <a:r>
              <a:t>    └────────────────────────────────────────────────────────┘</a:t>
            </a:r>
          </a:p>
        </p:txBody>
      </p:sp>
      <p:sp>
        <p:nvSpPr>
          <p:cNvPr id="7" name="TextBox 6"/>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Technology Stack</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Snowflake Features Demonstrated</a:t>
            </a:r>
          </a:p>
        </p:txBody>
      </p:sp>
      <p:graphicFrame>
        <p:nvGraphicFramePr>
          <p:cNvPr id="5" name="Table 4"/>
          <p:cNvGraphicFramePr>
            <a:graphicFrameLocks noGrp="1"/>
          </p:cNvGraphicFramePr>
          <p:nvPr/>
        </p:nvGraphicFramePr>
        <p:xfrm>
          <a:off x="640080" y="1463040"/>
          <a:ext cx="10881360" cy="3520439"/>
        </p:xfrm>
        <a:graphic>
          <a:graphicData uri="http://schemas.openxmlformats.org/drawingml/2006/table">
            <a:tbl>
              <a:tblPr firstRow="1" bandRow="1">
                <a:tableStyleId>{5C22544A-7EE6-4342-B048-85BDC9FD1C3A}</a:tableStyleId>
              </a:tblPr>
              <a:tblGrid>
                <a:gridCol w="3627120"/>
                <a:gridCol w="3627120"/>
                <a:gridCol w="3627120"/>
              </a:tblGrid>
              <a:tr h="320039">
                <a:tc>
                  <a:txBody>
                    <a:bodyPr/>
                    <a:lstStyle/>
                    <a:p>
                      <a:pPr>
                        <a:defRPr sz="1100" b="1">
                          <a:solidFill>
                            <a:srgbClr val="FFFFFF"/>
                          </a:solidFill>
                          <a:latin typeface="Calibri"/>
                        </a:defRPr>
                      </a:pPr>
                      <a:r>
                        <a:t>Capability</a:t>
                      </a:r>
                    </a:p>
                  </a:txBody>
                  <a:tcPr>
                    <a:solidFill>
                      <a:srgbClr val="29B5E8"/>
                    </a:solidFill>
                  </a:tcPr>
                </a:tc>
                <a:tc>
                  <a:txBody>
                    <a:bodyPr/>
                    <a:lstStyle/>
                    <a:p>
                      <a:pPr>
                        <a:defRPr sz="1100" b="1">
                          <a:solidFill>
                            <a:srgbClr val="FFFFFF"/>
                          </a:solidFill>
                          <a:latin typeface="Calibri"/>
                        </a:defRPr>
                      </a:pPr>
                      <a:r>
                        <a:t>Snowflake Feature</a:t>
                      </a:r>
                    </a:p>
                  </a:txBody>
                  <a:tcPr>
                    <a:solidFill>
                      <a:srgbClr val="29B5E8"/>
                    </a:solidFill>
                  </a:tcPr>
                </a:tc>
                <a:tc>
                  <a:txBody>
                    <a:bodyPr/>
                    <a:lstStyle/>
                    <a:p>
                      <a:pPr>
                        <a:defRPr sz="1100" b="1">
                          <a:solidFill>
                            <a:srgbClr val="FFFFFF"/>
                          </a:solidFill>
                          <a:latin typeface="Calibri"/>
                        </a:defRPr>
                      </a:pPr>
                      <a:r>
                        <a:t>Hospital 360 Usage</a:t>
                      </a:r>
                    </a:p>
                  </a:txBody>
                  <a:tcPr>
                    <a:solidFill>
                      <a:srgbClr val="29B5E8"/>
                    </a:solidFill>
                  </a:tcPr>
                </a:tc>
              </a:tr>
              <a:tr h="320039">
                <a:tc>
                  <a:txBody>
                    <a:bodyPr/>
                    <a:lstStyle/>
                    <a:p>
                      <a:pPr>
                        <a:defRPr sz="1100">
                          <a:solidFill>
                            <a:srgbClr val="333333"/>
                          </a:solidFill>
                          <a:latin typeface="Calibri"/>
                        </a:defRPr>
                      </a:pPr>
                      <a:r>
                        <a:t>Data Modeling</a:t>
                      </a:r>
                    </a:p>
                  </a:txBody>
                  <a:tcPr/>
                </a:tc>
                <a:tc>
                  <a:txBody>
                    <a:bodyPr/>
                    <a:lstStyle/>
                    <a:p>
                      <a:pPr>
                        <a:defRPr sz="1100">
                          <a:solidFill>
                            <a:srgbClr val="333333"/>
                          </a:solidFill>
                          <a:latin typeface="Calibri"/>
                        </a:defRPr>
                      </a:pPr>
                      <a:r>
                        <a:t>Multi-database medallion</a:t>
                      </a:r>
                    </a:p>
                  </a:txBody>
                  <a:tcPr/>
                </a:tc>
                <a:tc>
                  <a:txBody>
                    <a:bodyPr/>
                    <a:lstStyle/>
                    <a:p>
                      <a:pPr>
                        <a:defRPr sz="1100">
                          <a:solidFill>
                            <a:srgbClr val="333333"/>
                          </a:solidFill>
                          <a:latin typeface="Calibri"/>
                        </a:defRPr>
                      </a:pPr>
                      <a:r>
                        <a:t>5 databases, RAW → INT → CUR → APP</a:t>
                      </a:r>
                    </a:p>
                  </a:txBody>
                  <a:tcPr/>
                </a:tc>
              </a:tr>
              <a:tr h="320039">
                <a:tc>
                  <a:txBody>
                    <a:bodyPr/>
                    <a:lstStyle/>
                    <a:p>
                      <a:pPr>
                        <a:defRPr sz="1100">
                          <a:solidFill>
                            <a:srgbClr val="333333"/>
                          </a:solidFill>
                          <a:latin typeface="Calibri"/>
                        </a:defRPr>
                      </a:pPr>
                      <a:r>
                        <a:t>BI / Dashboards</a:t>
                      </a:r>
                    </a:p>
                  </a:txBody>
                  <a:tcPr>
                    <a:solidFill>
                      <a:srgbClr val="EBF7FC"/>
                    </a:solidFill>
                  </a:tcPr>
                </a:tc>
                <a:tc>
                  <a:txBody>
                    <a:bodyPr/>
                    <a:lstStyle/>
                    <a:p>
                      <a:pPr>
                        <a:defRPr sz="1100">
                          <a:solidFill>
                            <a:srgbClr val="333333"/>
                          </a:solidFill>
                          <a:latin typeface="Calibri"/>
                        </a:defRPr>
                      </a:pPr>
                      <a:r>
                        <a:t>Streamlit in Snowflake</a:t>
                      </a:r>
                    </a:p>
                  </a:txBody>
                  <a:tcPr>
                    <a:solidFill>
                      <a:srgbClr val="EBF7FC"/>
                    </a:solidFill>
                  </a:tcPr>
                </a:tc>
                <a:tc>
                  <a:txBody>
                    <a:bodyPr/>
                    <a:lstStyle/>
                    <a:p>
                      <a:pPr>
                        <a:defRPr sz="1100">
                          <a:solidFill>
                            <a:srgbClr val="333333"/>
                          </a:solidFill>
                          <a:latin typeface="Calibri"/>
                        </a:defRPr>
                      </a:pPr>
                      <a:r>
                        <a:t>9-page app, container runtime, Plotly charts</a:t>
                      </a:r>
                    </a:p>
                  </a:txBody>
                  <a:tcPr>
                    <a:solidFill>
                      <a:srgbClr val="EBF7FC"/>
                    </a:solidFill>
                  </a:tcPr>
                </a:tc>
              </a:tr>
              <a:tr h="320039">
                <a:tc>
                  <a:txBody>
                    <a:bodyPr/>
                    <a:lstStyle/>
                    <a:p>
                      <a:pPr>
                        <a:defRPr sz="1100">
                          <a:solidFill>
                            <a:srgbClr val="333333"/>
                          </a:solidFill>
                          <a:latin typeface="Calibri"/>
                        </a:defRPr>
                      </a:pPr>
                      <a:r>
                        <a:t>Machine Learning</a:t>
                      </a:r>
                    </a:p>
                  </a:txBody>
                  <a:tcPr/>
                </a:tc>
                <a:tc>
                  <a:txBody>
                    <a:bodyPr/>
                    <a:lstStyle/>
                    <a:p>
                      <a:pPr>
                        <a:defRPr sz="1100">
                          <a:solidFill>
                            <a:srgbClr val="333333"/>
                          </a:solidFill>
                          <a:latin typeface="Calibri"/>
                        </a:defRPr>
                      </a:pPr>
                      <a:r>
                        <a:t>Cortex ML Functions</a:t>
                      </a:r>
                    </a:p>
                  </a:txBody>
                  <a:tcPr/>
                </a:tc>
                <a:tc>
                  <a:txBody>
                    <a:bodyPr/>
                    <a:lstStyle/>
                    <a:p>
                      <a:pPr>
                        <a:defRPr sz="1100">
                          <a:solidFill>
                            <a:srgbClr val="333333"/>
                          </a:solidFill>
                          <a:latin typeface="Calibri"/>
                        </a:defRPr>
                      </a:pPr>
                      <a:r>
                        <a:t>FORECAST, ANOMALY_DETECTION, TOP_INSIGHTS</a:t>
                      </a:r>
                    </a:p>
                  </a:txBody>
                  <a:tcPr/>
                </a:tc>
              </a:tr>
              <a:tr h="320039">
                <a:tc>
                  <a:txBody>
                    <a:bodyPr/>
                    <a:lstStyle/>
                    <a:p>
                      <a:pPr>
                        <a:defRPr sz="1100">
                          <a:solidFill>
                            <a:srgbClr val="333333"/>
                          </a:solidFill>
                          <a:latin typeface="Calibri"/>
                        </a:defRPr>
                      </a:pPr>
                      <a:r>
                        <a:t>Natural Language</a:t>
                      </a:r>
                    </a:p>
                  </a:txBody>
                  <a:tcPr>
                    <a:solidFill>
                      <a:srgbClr val="EBF7FC"/>
                    </a:solidFill>
                  </a:tcPr>
                </a:tc>
                <a:tc>
                  <a:txBody>
                    <a:bodyPr/>
                    <a:lstStyle/>
                    <a:p>
                      <a:pPr>
                        <a:defRPr sz="1100">
                          <a:solidFill>
                            <a:srgbClr val="333333"/>
                          </a:solidFill>
                          <a:latin typeface="Calibri"/>
                        </a:defRPr>
                      </a:pPr>
                      <a:r>
                        <a:t>Cortex Analyst</a:t>
                      </a:r>
                    </a:p>
                  </a:txBody>
                  <a:tcPr>
                    <a:solidFill>
                      <a:srgbClr val="EBF7FC"/>
                    </a:solidFill>
                  </a:tcPr>
                </a:tc>
                <a:tc>
                  <a:txBody>
                    <a:bodyPr/>
                    <a:lstStyle/>
                    <a:p>
                      <a:pPr>
                        <a:defRPr sz="1100">
                          <a:solidFill>
                            <a:srgbClr val="333333"/>
                          </a:solidFill>
                          <a:latin typeface="Calibri"/>
                        </a:defRPr>
                      </a:pPr>
                      <a:r>
                        <a:t>Text-to-SQL via unified semantic view</a:t>
                      </a:r>
                    </a:p>
                  </a:txBody>
                  <a:tcPr>
                    <a:solidFill>
                      <a:srgbClr val="EBF7FC"/>
                    </a:solidFill>
                  </a:tcPr>
                </a:tc>
              </a:tr>
              <a:tr h="320039">
                <a:tc>
                  <a:txBody>
                    <a:bodyPr/>
                    <a:lstStyle/>
                    <a:p>
                      <a:pPr>
                        <a:defRPr sz="1100">
                          <a:solidFill>
                            <a:srgbClr val="333333"/>
                          </a:solidFill>
                          <a:latin typeface="Calibri"/>
                        </a:defRPr>
                      </a:pPr>
                      <a:r>
                        <a:t>Agentic AI</a:t>
                      </a:r>
                    </a:p>
                  </a:txBody>
                  <a:tcPr/>
                </a:tc>
                <a:tc>
                  <a:txBody>
                    <a:bodyPr/>
                    <a:lstStyle/>
                    <a:p>
                      <a:pPr>
                        <a:defRPr sz="1100">
                          <a:solidFill>
                            <a:srgbClr val="333333"/>
                          </a:solidFill>
                          <a:latin typeface="Calibri"/>
                        </a:defRPr>
                      </a:pPr>
                      <a:r>
                        <a:t>Cortex Agent</a:t>
                      </a:r>
                    </a:p>
                  </a:txBody>
                  <a:tcPr/>
                </a:tc>
                <a:tc>
                  <a:txBody>
                    <a:bodyPr/>
                    <a:lstStyle/>
                    <a:p>
                      <a:pPr>
                        <a:defRPr sz="1100">
                          <a:solidFill>
                            <a:srgbClr val="333333"/>
                          </a:solidFill>
                          <a:latin typeface="Calibri"/>
                        </a:defRPr>
                      </a:pPr>
                      <a:r>
                        <a:t>Multi-step reasoning, auto SQL execution</a:t>
                      </a:r>
                    </a:p>
                  </a:txBody>
                  <a:tcPr/>
                </a:tc>
              </a:tr>
              <a:tr h="320039">
                <a:tc>
                  <a:txBody>
                    <a:bodyPr/>
                    <a:lstStyle/>
                    <a:p>
                      <a:pPr>
                        <a:defRPr sz="1100">
                          <a:solidFill>
                            <a:srgbClr val="333333"/>
                          </a:solidFill>
                          <a:latin typeface="Calibri"/>
                        </a:defRPr>
                      </a:pPr>
                      <a:r>
                        <a:t>Semantic Layer</a:t>
                      </a:r>
                    </a:p>
                  </a:txBody>
                  <a:tcPr>
                    <a:solidFill>
                      <a:srgbClr val="EBF7FC"/>
                    </a:solidFill>
                  </a:tcPr>
                </a:tc>
                <a:tc>
                  <a:txBody>
                    <a:bodyPr/>
                    <a:lstStyle/>
                    <a:p>
                      <a:pPr>
                        <a:defRPr sz="1100">
                          <a:solidFill>
                            <a:srgbClr val="333333"/>
                          </a:solidFill>
                          <a:latin typeface="Calibri"/>
                        </a:defRPr>
                      </a:pPr>
                      <a:r>
                        <a:t>Semantic Views</a:t>
                      </a:r>
                    </a:p>
                  </a:txBody>
                  <a:tcPr>
                    <a:solidFill>
                      <a:srgbClr val="EBF7FC"/>
                    </a:solidFill>
                  </a:tcPr>
                </a:tc>
                <a:tc>
                  <a:txBody>
                    <a:bodyPr/>
                    <a:lstStyle/>
                    <a:p>
                      <a:pPr>
                        <a:defRPr sz="1100">
                          <a:solidFill>
                            <a:srgbClr val="333333"/>
                          </a:solidFill>
                          <a:latin typeface="Calibri"/>
                        </a:defRPr>
                      </a:pPr>
                      <a:r>
                        <a:t>6 tables, 18 metrics, 12 verified queries</a:t>
                      </a:r>
                    </a:p>
                  </a:txBody>
                  <a:tcPr>
                    <a:solidFill>
                      <a:srgbClr val="EBF7FC"/>
                    </a:solidFill>
                  </a:tcPr>
                </a:tc>
              </a:tr>
              <a:tr h="320039">
                <a:tc>
                  <a:txBody>
                    <a:bodyPr/>
                    <a:lstStyle/>
                    <a:p>
                      <a:pPr>
                        <a:defRPr sz="1100">
                          <a:solidFill>
                            <a:srgbClr val="333333"/>
                          </a:solidFill>
                          <a:latin typeface="Calibri"/>
                        </a:defRPr>
                      </a:pPr>
                      <a:r>
                        <a:t>Governance</a:t>
                      </a:r>
                    </a:p>
                  </a:txBody>
                  <a:tcPr/>
                </a:tc>
                <a:tc>
                  <a:txBody>
                    <a:bodyPr/>
                    <a:lstStyle/>
                    <a:p>
                      <a:pPr>
                        <a:defRPr sz="1100">
                          <a:solidFill>
                            <a:srgbClr val="333333"/>
                          </a:solidFill>
                          <a:latin typeface="Calibri"/>
                        </a:defRPr>
                      </a:pPr>
                      <a:r>
                        <a:t>Tags + Masking + RAP</a:t>
                      </a:r>
                    </a:p>
                  </a:txBody>
                  <a:tcPr/>
                </a:tc>
                <a:tc>
                  <a:txBody>
                    <a:bodyPr/>
                    <a:lstStyle/>
                    <a:p>
                      <a:pPr>
                        <a:defRPr sz="1100">
                          <a:solidFill>
                            <a:srgbClr val="333333"/>
                          </a:solidFill>
                          <a:latin typeface="Calibri"/>
                        </a:defRPr>
                      </a:pPr>
                      <a:r>
                        <a:t>HIPAA-aligned: 6 masking policies, 2 RAPs</a:t>
                      </a:r>
                    </a:p>
                  </a:txBody>
                  <a:tcPr/>
                </a:tc>
              </a:tr>
              <a:tr h="320039">
                <a:tc>
                  <a:txBody>
                    <a:bodyPr/>
                    <a:lstStyle/>
                    <a:p>
                      <a:pPr>
                        <a:defRPr sz="1100">
                          <a:solidFill>
                            <a:srgbClr val="333333"/>
                          </a:solidFill>
                          <a:latin typeface="Calibri"/>
                        </a:defRPr>
                      </a:pPr>
                      <a:r>
                        <a:t>Automation</a:t>
                      </a:r>
                    </a:p>
                  </a:txBody>
                  <a:tcPr>
                    <a:solidFill>
                      <a:srgbClr val="EBF7FC"/>
                    </a:solidFill>
                  </a:tcPr>
                </a:tc>
                <a:tc>
                  <a:txBody>
                    <a:bodyPr/>
                    <a:lstStyle/>
                    <a:p>
                      <a:pPr>
                        <a:defRPr sz="1100">
                          <a:solidFill>
                            <a:srgbClr val="333333"/>
                          </a:solidFill>
                          <a:latin typeface="Calibri"/>
                        </a:defRPr>
                      </a:pPr>
                      <a:r>
                        <a:t>Snowflake Tasks</a:t>
                      </a:r>
                    </a:p>
                  </a:txBody>
                  <a:tcPr>
                    <a:solidFill>
                      <a:srgbClr val="EBF7FC"/>
                    </a:solidFill>
                  </a:tcPr>
                </a:tc>
                <a:tc>
                  <a:txBody>
                    <a:bodyPr/>
                    <a:lstStyle/>
                    <a:p>
                      <a:pPr>
                        <a:defRPr sz="1100">
                          <a:solidFill>
                            <a:srgbClr val="333333"/>
                          </a:solidFill>
                          <a:latin typeface="Calibri"/>
                        </a:defRPr>
                      </a:pPr>
                      <a:r>
                        <a:t>5-task DAG, stored procedures, daily schedule</a:t>
                      </a:r>
                    </a:p>
                  </a:txBody>
                  <a:tcPr>
                    <a:solidFill>
                      <a:srgbClr val="EBF7FC"/>
                    </a:solidFill>
                  </a:tcPr>
                </a:tc>
              </a:tr>
              <a:tr h="320039">
                <a:tc>
                  <a:txBody>
                    <a:bodyPr/>
                    <a:lstStyle/>
                    <a:p>
                      <a:pPr>
                        <a:defRPr sz="1100">
                          <a:solidFill>
                            <a:srgbClr val="333333"/>
                          </a:solidFill>
                          <a:latin typeface="Calibri"/>
                        </a:defRPr>
                      </a:pPr>
                      <a:r>
                        <a:t>Data Quality</a:t>
                      </a:r>
                    </a:p>
                  </a:txBody>
                  <a:tcPr/>
                </a:tc>
                <a:tc>
                  <a:txBody>
                    <a:bodyPr/>
                    <a:lstStyle/>
                    <a:p>
                      <a:pPr>
                        <a:defRPr sz="1100">
                          <a:solidFill>
                            <a:srgbClr val="333333"/>
                          </a:solidFill>
                          <a:latin typeface="Calibri"/>
                        </a:defRPr>
                      </a:pPr>
                      <a:r>
                        <a:t>Stored Procedures</a:t>
                      </a:r>
                    </a:p>
                  </a:txBody>
                  <a:tcPr/>
                </a:tc>
                <a:tc>
                  <a:txBody>
                    <a:bodyPr/>
                    <a:lstStyle/>
                    <a:p>
                      <a:pPr>
                        <a:defRPr sz="1100">
                          <a:solidFill>
                            <a:srgbClr val="333333"/>
                          </a:solidFill>
                          <a:latin typeface="Calibri"/>
                        </a:defRPr>
                      </a:pPr>
                      <a:r>
                        <a:t>13 automated checks (row counts, NULLs, metric bounds)</a:t>
                      </a:r>
                    </a:p>
                  </a:txBody>
                  <a:tcPr/>
                </a:tc>
              </a:tr>
              <a:tr h="320049">
                <a:tc>
                  <a:txBody>
                    <a:bodyPr/>
                    <a:lstStyle/>
                    <a:p>
                      <a:pPr>
                        <a:defRPr sz="1100">
                          <a:solidFill>
                            <a:srgbClr val="333333"/>
                          </a:solidFill>
                          <a:latin typeface="Calibri"/>
                        </a:defRPr>
                      </a:pPr>
                      <a:r>
                        <a:t>Security</a:t>
                      </a:r>
                    </a:p>
                  </a:txBody>
                  <a:tcPr>
                    <a:solidFill>
                      <a:srgbClr val="EBF7FC"/>
                    </a:solidFill>
                  </a:tcPr>
                </a:tc>
                <a:tc>
                  <a:txBody>
                    <a:bodyPr/>
                    <a:lstStyle/>
                    <a:p>
                      <a:pPr>
                        <a:defRPr sz="1100">
                          <a:solidFill>
                            <a:srgbClr val="333333"/>
                          </a:solidFill>
                          <a:latin typeface="Calibri"/>
                        </a:defRPr>
                      </a:pPr>
                      <a:r>
                        <a:t>RBAC + Dynamic Masking</a:t>
                      </a:r>
                    </a:p>
                  </a:txBody>
                  <a:tcPr>
                    <a:solidFill>
                      <a:srgbClr val="EBF7FC"/>
                    </a:solidFill>
                  </a:tcPr>
                </a:tc>
                <a:tc>
                  <a:txBody>
                    <a:bodyPr/>
                    <a:lstStyle/>
                    <a:p>
                      <a:pPr>
                        <a:defRPr sz="1100">
                          <a:solidFill>
                            <a:srgbClr val="333333"/>
                          </a:solidFill>
                          <a:latin typeface="Calibri"/>
                        </a:defRPr>
                      </a:pPr>
                      <a:r>
                        <a:t>6 functional roles, differential PHI visibility</a:t>
                      </a:r>
                    </a:p>
                  </a:txBody>
                  <a:tcPr>
                    <a:solidFill>
                      <a:srgbClr val="EBF7FC"/>
                    </a:solidFill>
                  </a:tcPr>
                </a:tc>
              </a:tr>
            </a:tbl>
          </a:graphicData>
        </a:graphic>
      </p:graphicFrame>
      <p:sp>
        <p:nvSpPr>
          <p:cNvPr id="6" name="TextBox 5"/>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Business Problem 1: Readmission &amp; Length of Stay</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The Problem</a:t>
            </a:r>
          </a:p>
        </p:txBody>
      </p:sp>
      <p:sp>
        <p:nvSpPr>
          <p:cNvPr id="5" name="TextBox 4"/>
          <p:cNvSpPr txBox="1"/>
          <p:nvPr/>
        </p:nvSpPr>
        <p:spPr>
          <a:xfrm>
            <a:off x="640080" y="1463040"/>
            <a:ext cx="10881360" cy="320040"/>
          </a:xfrm>
          <a:prstGeom prst="rect">
            <a:avLst/>
          </a:prstGeom>
          <a:noFill/>
        </p:spPr>
        <p:txBody>
          <a:bodyPr wrap="square">
            <a:spAutoFit/>
          </a:bodyPr>
          <a:lstStyle/>
          <a:p>
            <a:pPr algn="l">
              <a:defRPr sz="1400" b="0">
                <a:solidFill>
                  <a:srgbClr val="333333"/>
                </a:solidFill>
                <a:latin typeface="Calibri"/>
              </a:defRPr>
            </a:pPr>
            <a:r>
              <a:t>Hospitals face CMS penalties for excess 30-day readmissions. Extended length of stay drives up costs. Clinical leaders need to identify which DRGs, payers, and departments drive readmission risk.</a:t>
            </a:r>
          </a:p>
        </p:txBody>
      </p:sp>
      <p:sp>
        <p:nvSpPr>
          <p:cNvPr id="6" name="TextBox 5"/>
          <p:cNvSpPr txBox="1"/>
          <p:nvPr/>
        </p:nvSpPr>
        <p:spPr>
          <a:xfrm>
            <a:off x="640080" y="1810512"/>
            <a:ext cx="10881360" cy="457200"/>
          </a:xfrm>
          <a:prstGeom prst="rect">
            <a:avLst/>
          </a:prstGeom>
          <a:noFill/>
        </p:spPr>
        <p:txBody>
          <a:bodyPr wrap="square">
            <a:spAutoFit/>
          </a:bodyPr>
          <a:lstStyle/>
          <a:p>
            <a:pPr algn="l">
              <a:defRPr sz="2200" b="0">
                <a:solidFill>
                  <a:srgbClr val="29B5E8"/>
                </a:solidFill>
                <a:latin typeface="Calibri"/>
              </a:defRPr>
            </a:pPr>
            <a:r>
              <a:t>What Hospital 360 Shows</a:t>
            </a:r>
          </a:p>
        </p:txBody>
      </p:sp>
      <p:sp>
        <p:nvSpPr>
          <p:cNvPr id="7" name="TextBox 6"/>
          <p:cNvSpPr txBox="1"/>
          <p:nvPr/>
        </p:nvSpPr>
        <p:spPr>
          <a:xfrm>
            <a:off x="640080" y="2313432"/>
            <a:ext cx="10881360" cy="3995928"/>
          </a:xfrm>
          <a:prstGeom prst="rect">
            <a:avLst/>
          </a:prstGeom>
          <a:noFill/>
        </p:spPr>
        <p:txBody>
          <a:bodyPr wrap="square">
            <a:spAutoFit/>
          </a:bodyPr>
          <a:lstStyle/>
          <a:p>
            <a:pPr>
              <a:spcBef>
                <a:spcPts val="400"/>
              </a:spcBef>
              <a:spcAft>
                <a:spcPts val="200"/>
              </a:spcAft>
            </a:pPr>
            <a:r>
              <a:rPr b="1" sz="1300">
                <a:solidFill>
                  <a:srgbClr val="333333"/>
                </a:solidFill>
                <a:latin typeface="Calibri"/>
              </a:rPr>
              <a:t>12% overall 30-day readmission rate</a:t>
            </a:r>
            <a:r>
              <a:rPr sz="1300">
                <a:solidFill>
                  <a:srgbClr val="333333"/>
                </a:solidFill>
                <a:latin typeface="Calibri"/>
              </a:rPr>
              <a:t> across 107K inpatient/observation encounters</a:t>
            </a:r>
          </a:p>
          <a:p>
            <a:pPr>
              <a:spcBef>
                <a:spcPts val="400"/>
              </a:spcBef>
              <a:spcAft>
                <a:spcPts val="200"/>
              </a:spcAft>
            </a:pPr>
            <a:r>
              <a:rPr b="1" sz="1300">
                <a:solidFill>
                  <a:srgbClr val="333333"/>
                </a:solidFill>
                <a:latin typeface="Calibri"/>
              </a:rPr>
              <a:t>LOS Index</a:t>
            </a:r>
            <a:r>
              <a:rPr sz="1300">
                <a:solidFill>
                  <a:srgbClr val="333333"/>
                </a:solidFill>
                <a:latin typeface="Calibri"/>
              </a:rPr>
              <a:t> (actual / expected by DRG) identifies patients staying 1.5x+ longer than benchmark</a:t>
            </a:r>
          </a:p>
          <a:p>
            <a:pPr>
              <a:spcBef>
                <a:spcPts val="400"/>
              </a:spcBef>
              <a:spcAft>
                <a:spcPts val="200"/>
              </a:spcAft>
            </a:pPr>
            <a:r>
              <a:rPr b="1" sz="1300">
                <a:solidFill>
                  <a:srgbClr val="333333"/>
                </a:solidFill>
                <a:latin typeface="Calibri"/>
              </a:rPr>
              <a:t>Top 10 DRGs</a:t>
            </a:r>
            <a:r>
              <a:rPr sz="1300">
                <a:solidFill>
                  <a:srgbClr val="333333"/>
                </a:solidFill>
                <a:latin typeface="Calibri"/>
              </a:rPr>
              <a:t> by readmission rate with drill-down</a:t>
            </a:r>
          </a:p>
          <a:p>
            <a:pPr>
              <a:spcBef>
                <a:spcPts val="400"/>
              </a:spcBef>
              <a:spcAft>
                <a:spcPts val="200"/>
              </a:spcAft>
            </a:pPr>
            <a:r>
              <a:rPr b="1" sz="1300">
                <a:solidFill>
                  <a:srgbClr val="333333"/>
                </a:solidFill>
                <a:latin typeface="Calibri"/>
              </a:rPr>
              <a:t>Cortex ML Top Insights</a:t>
            </a:r>
            <a:r>
              <a:rPr sz="1300">
                <a:solidFill>
                  <a:srgbClr val="333333"/>
                </a:solidFill>
                <a:latin typeface="Calibri"/>
              </a:rPr>
              <a:t> automatically surfaces which patient segments (DRG, payer, age bucket, department) are driving readmission rate changes</a:t>
            </a:r>
          </a:p>
        </p:txBody>
      </p:sp>
      <p:sp>
        <p:nvSpPr>
          <p:cNvPr id="8" name="TextBox 7"/>
          <p:cNvSpPr txBox="1"/>
          <p:nvPr/>
        </p:nvSpPr>
        <p:spPr>
          <a:xfrm>
            <a:off x="640080" y="3547872"/>
            <a:ext cx="10881360" cy="457200"/>
          </a:xfrm>
          <a:prstGeom prst="rect">
            <a:avLst/>
          </a:prstGeom>
          <a:noFill/>
        </p:spPr>
        <p:txBody>
          <a:bodyPr wrap="square">
            <a:spAutoFit/>
          </a:bodyPr>
          <a:lstStyle/>
          <a:p>
            <a:pPr algn="l">
              <a:defRPr sz="2200" b="0">
                <a:solidFill>
                  <a:srgbClr val="29B5E8"/>
                </a:solidFill>
                <a:latin typeface="Calibri"/>
              </a:defRPr>
            </a:pPr>
            <a:r>
              <a:t>Snowflake Differentiator</a:t>
            </a:r>
          </a:p>
        </p:txBody>
      </p:sp>
      <p:sp>
        <p:nvSpPr>
          <p:cNvPr id="9" name="TextBox 8"/>
          <p:cNvSpPr txBox="1"/>
          <p:nvPr/>
        </p:nvSpPr>
        <p:spPr>
          <a:xfrm>
            <a:off x="640080" y="4050792"/>
            <a:ext cx="10881360" cy="320040"/>
          </a:xfrm>
          <a:prstGeom prst="rect">
            <a:avLst/>
          </a:prstGeom>
          <a:noFill/>
        </p:spPr>
        <p:txBody>
          <a:bodyPr wrap="square">
            <a:spAutoFit/>
          </a:bodyPr>
          <a:lstStyle/>
          <a:p>
            <a:pPr algn="l">
              <a:defRPr sz="1400" b="0">
                <a:solidFill>
                  <a:srgbClr val="333333"/>
                </a:solidFill>
                <a:latin typeface="Calibri"/>
              </a:defRPr>
            </a:pPr>
            <a:r>
              <a:t>`SNOWFLAKE.ML.TOP_INSIGHTS` — zero-code ML driver analysis. No data science team needed. Automatically decomposes rate changes into contributing segments with growth rates and relative contributions.</a:t>
            </a:r>
          </a:p>
        </p:txBody>
      </p:sp>
      <p:sp>
        <p:nvSpPr>
          <p:cNvPr id="10" name="TextBox 9"/>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Business Problem 2: Patient Referral Leakage</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The Problem</a:t>
            </a:r>
          </a:p>
        </p:txBody>
      </p:sp>
      <p:sp>
        <p:nvSpPr>
          <p:cNvPr id="5" name="TextBox 4"/>
          <p:cNvSpPr txBox="1"/>
          <p:nvPr/>
        </p:nvSpPr>
        <p:spPr>
          <a:xfrm>
            <a:off x="640080" y="1463040"/>
            <a:ext cx="10881360" cy="320040"/>
          </a:xfrm>
          <a:prstGeom prst="rect">
            <a:avLst/>
          </a:prstGeom>
          <a:noFill/>
        </p:spPr>
        <p:txBody>
          <a:bodyPr wrap="square">
            <a:spAutoFit/>
          </a:bodyPr>
          <a:lstStyle/>
          <a:p>
            <a:pPr algn="l">
              <a:defRPr sz="1400" b="0">
                <a:solidFill>
                  <a:srgbClr val="333333"/>
                </a:solidFill>
                <a:latin typeface="Calibri"/>
              </a:defRPr>
            </a:pPr>
            <a:r>
              <a:t>When referred patients seek care outside the health system network, revenue is lost. Average health systems lose 10-30% of referral revenue to leakage, often without visibility into which specialties or providers are affected.</a:t>
            </a:r>
          </a:p>
        </p:txBody>
      </p:sp>
      <p:sp>
        <p:nvSpPr>
          <p:cNvPr id="6" name="TextBox 5"/>
          <p:cNvSpPr txBox="1"/>
          <p:nvPr/>
        </p:nvSpPr>
        <p:spPr>
          <a:xfrm>
            <a:off x="640080" y="1810512"/>
            <a:ext cx="10881360" cy="457200"/>
          </a:xfrm>
          <a:prstGeom prst="rect">
            <a:avLst/>
          </a:prstGeom>
          <a:noFill/>
        </p:spPr>
        <p:txBody>
          <a:bodyPr wrap="square">
            <a:spAutoFit/>
          </a:bodyPr>
          <a:lstStyle/>
          <a:p>
            <a:pPr algn="l">
              <a:defRPr sz="2200" b="0">
                <a:solidFill>
                  <a:srgbClr val="29B5E8"/>
                </a:solidFill>
                <a:latin typeface="Calibri"/>
              </a:defRPr>
            </a:pPr>
            <a:r>
              <a:t>What Hospital 360 Shows</a:t>
            </a:r>
          </a:p>
        </p:txBody>
      </p:sp>
      <p:sp>
        <p:nvSpPr>
          <p:cNvPr id="7" name="TextBox 6"/>
          <p:cNvSpPr txBox="1"/>
          <p:nvPr/>
        </p:nvSpPr>
        <p:spPr>
          <a:xfrm>
            <a:off x="640080" y="2313432"/>
            <a:ext cx="10881360" cy="3995928"/>
          </a:xfrm>
          <a:prstGeom prst="rect">
            <a:avLst/>
          </a:prstGeom>
          <a:noFill/>
        </p:spPr>
        <p:txBody>
          <a:bodyPr wrap="square">
            <a:spAutoFit/>
          </a:bodyPr>
          <a:lstStyle/>
          <a:p>
            <a:pPr>
              <a:spcBef>
                <a:spcPts val="400"/>
              </a:spcBef>
              <a:spcAft>
                <a:spcPts val="200"/>
              </a:spcAft>
            </a:pPr>
            <a:r>
              <a:rPr b="1" sz="1300">
                <a:solidFill>
                  <a:srgbClr val="333333"/>
                </a:solidFill>
                <a:latin typeface="Calibri"/>
              </a:rPr>
              <a:t>15.2% leakage rate</a:t>
            </a:r>
            <a:r>
              <a:rPr sz="1300">
                <a:solidFill>
                  <a:srgbClr val="333333"/>
                </a:solidFill>
                <a:latin typeface="Calibri"/>
              </a:rPr>
              <a:t> across 48K referrals — patients referred out but treated elsewhere</a:t>
            </a:r>
          </a:p>
          <a:p>
            <a:pPr>
              <a:spcBef>
                <a:spcPts val="400"/>
              </a:spcBef>
              <a:spcAft>
                <a:spcPts val="200"/>
              </a:spcAft>
            </a:pPr>
            <a:r>
              <a:rPr b="1" sz="1300">
                <a:solidFill>
                  <a:srgbClr val="333333"/>
                </a:solidFill>
                <a:latin typeface="Calibri"/>
              </a:rPr>
              <a:t>$M in lost revenue</a:t>
            </a:r>
            <a:r>
              <a:rPr sz="1300">
                <a:solidFill>
                  <a:srgbClr val="333333"/>
                </a:solidFill>
                <a:latin typeface="Calibri"/>
              </a:rPr>
              <a:t> broken down by referred-to specialty, referring provider, and facility</a:t>
            </a:r>
          </a:p>
          <a:p>
            <a:pPr>
              <a:spcBef>
                <a:spcPts val="400"/>
              </a:spcBef>
              <a:spcAft>
                <a:spcPts val="200"/>
              </a:spcAft>
            </a:pPr>
            <a:r>
              <a:rPr b="1" sz="1300">
                <a:solidFill>
                  <a:srgbClr val="333333"/>
                </a:solidFill>
                <a:latin typeface="Calibri"/>
              </a:rPr>
              <a:t>High-value leak identification</a:t>
            </a:r>
            <a:r>
              <a:rPr sz="1300">
                <a:solidFill>
                  <a:srgbClr val="333333"/>
                </a:solidFill>
                <a:latin typeface="Calibri"/>
              </a:rPr>
              <a:t> — referrals over $5K that leaked to external providers</a:t>
            </a:r>
          </a:p>
          <a:p>
            <a:pPr>
              <a:spcBef>
                <a:spcPts val="400"/>
              </a:spcBef>
              <a:spcAft>
                <a:spcPts val="200"/>
              </a:spcAft>
            </a:pPr>
            <a:r>
              <a:rPr b="1" sz="1300">
                <a:solidFill>
                  <a:srgbClr val="333333"/>
                </a:solidFill>
                <a:latin typeface="Calibri"/>
              </a:rPr>
              <a:t>Cortex ML Top Insights</a:t>
            </a:r>
            <a:r>
              <a:rPr sz="1300">
                <a:solidFill>
                  <a:srgbClr val="333333"/>
                </a:solidFill>
                <a:latin typeface="Calibri"/>
              </a:rPr>
              <a:t> identifies which specialty + payer + geography combinations drive the highest leakage rates</a:t>
            </a:r>
          </a:p>
        </p:txBody>
      </p:sp>
      <p:sp>
        <p:nvSpPr>
          <p:cNvPr id="8" name="TextBox 7"/>
          <p:cNvSpPr txBox="1"/>
          <p:nvPr/>
        </p:nvSpPr>
        <p:spPr>
          <a:xfrm>
            <a:off x="640080" y="3547872"/>
            <a:ext cx="10881360" cy="457200"/>
          </a:xfrm>
          <a:prstGeom prst="rect">
            <a:avLst/>
          </a:prstGeom>
          <a:noFill/>
        </p:spPr>
        <p:txBody>
          <a:bodyPr wrap="square">
            <a:spAutoFit/>
          </a:bodyPr>
          <a:lstStyle/>
          <a:p>
            <a:pPr algn="l">
              <a:defRPr sz="2200" b="0">
                <a:solidFill>
                  <a:srgbClr val="29B5E8"/>
                </a:solidFill>
                <a:latin typeface="Calibri"/>
              </a:defRPr>
            </a:pPr>
            <a:r>
              <a:t>Snowflake Differentiator</a:t>
            </a:r>
          </a:p>
        </p:txBody>
      </p:sp>
      <p:sp>
        <p:nvSpPr>
          <p:cNvPr id="9" name="TextBox 8"/>
          <p:cNvSpPr txBox="1"/>
          <p:nvPr/>
        </p:nvSpPr>
        <p:spPr>
          <a:xfrm>
            <a:off x="640080" y="4050792"/>
            <a:ext cx="10881360" cy="320040"/>
          </a:xfrm>
          <a:prstGeom prst="rect">
            <a:avLst/>
          </a:prstGeom>
          <a:noFill/>
        </p:spPr>
        <p:txBody>
          <a:bodyPr wrap="square">
            <a:spAutoFit/>
          </a:bodyPr>
          <a:lstStyle/>
          <a:p>
            <a:pPr algn="l">
              <a:defRPr sz="1400" b="0">
                <a:solidFill>
                  <a:srgbClr val="333333"/>
                </a:solidFill>
                <a:latin typeface="Calibri"/>
              </a:defRPr>
            </a:pPr>
            <a:r>
              <a:t>Unified semantic view allows executives to ask "Which specialties lose the most revenue to leakage?" in plain English via Cortex Analyst — no dashboard training required.</a:t>
            </a:r>
          </a:p>
        </p:txBody>
      </p:sp>
      <p:sp>
        <p:nvSpPr>
          <p:cNvPr id="10" name="TextBox 9"/>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Business Problem 3: OR Capacity &amp; Utilization</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The Problem</a:t>
            </a:r>
          </a:p>
        </p:txBody>
      </p:sp>
      <p:sp>
        <p:nvSpPr>
          <p:cNvPr id="5" name="TextBox 4"/>
          <p:cNvSpPr txBox="1"/>
          <p:nvPr/>
        </p:nvSpPr>
        <p:spPr>
          <a:xfrm>
            <a:off x="640080" y="1463040"/>
            <a:ext cx="10881360" cy="320040"/>
          </a:xfrm>
          <a:prstGeom prst="rect">
            <a:avLst/>
          </a:prstGeom>
          <a:noFill/>
        </p:spPr>
        <p:txBody>
          <a:bodyPr wrap="square">
            <a:spAutoFit/>
          </a:bodyPr>
          <a:lstStyle/>
          <a:p>
            <a:pPr algn="l">
              <a:defRPr sz="1400" b="0">
                <a:solidFill>
                  <a:srgbClr val="333333"/>
                </a:solidFill>
                <a:latin typeface="Calibri"/>
              </a:defRPr>
            </a:pPr>
            <a:r>
              <a:t>Operating rooms are the most expensive real estate in a hospital. Underutilized blocks waste capacity while other surgeons wait. Late first-case starts cascade into delays all day.</a:t>
            </a:r>
          </a:p>
        </p:txBody>
      </p:sp>
      <p:sp>
        <p:nvSpPr>
          <p:cNvPr id="6" name="TextBox 5"/>
          <p:cNvSpPr txBox="1"/>
          <p:nvPr/>
        </p:nvSpPr>
        <p:spPr>
          <a:xfrm>
            <a:off x="640080" y="1810512"/>
            <a:ext cx="10881360" cy="457200"/>
          </a:xfrm>
          <a:prstGeom prst="rect">
            <a:avLst/>
          </a:prstGeom>
          <a:noFill/>
        </p:spPr>
        <p:txBody>
          <a:bodyPr wrap="square">
            <a:spAutoFit/>
          </a:bodyPr>
          <a:lstStyle/>
          <a:p>
            <a:pPr algn="l">
              <a:defRPr sz="2200" b="0">
                <a:solidFill>
                  <a:srgbClr val="29B5E8"/>
                </a:solidFill>
                <a:latin typeface="Calibri"/>
              </a:defRPr>
            </a:pPr>
            <a:r>
              <a:t>What Hospital 360 Shows</a:t>
            </a:r>
          </a:p>
        </p:txBody>
      </p:sp>
      <p:sp>
        <p:nvSpPr>
          <p:cNvPr id="7" name="TextBox 6"/>
          <p:cNvSpPr txBox="1"/>
          <p:nvPr/>
        </p:nvSpPr>
        <p:spPr>
          <a:xfrm>
            <a:off x="640080" y="2313432"/>
            <a:ext cx="10881360" cy="3995928"/>
          </a:xfrm>
          <a:prstGeom prst="rect">
            <a:avLst/>
          </a:prstGeom>
          <a:noFill/>
        </p:spPr>
        <p:txBody>
          <a:bodyPr wrap="square">
            <a:spAutoFit/>
          </a:bodyPr>
          <a:lstStyle/>
          <a:p>
            <a:pPr>
              <a:spcBef>
                <a:spcPts val="400"/>
              </a:spcBef>
              <a:spcAft>
                <a:spcPts val="200"/>
              </a:spcAft>
            </a:pPr>
            <a:r>
              <a:rPr b="1" sz="1300">
                <a:solidFill>
                  <a:srgbClr val="333333"/>
                </a:solidFill>
                <a:latin typeface="Calibri"/>
              </a:rPr>
              <a:t>84.3% average OR utilization</a:t>
            </a:r>
            <a:r>
              <a:rPr sz="1300">
                <a:solidFill>
                  <a:srgbClr val="333333"/>
                </a:solidFill>
                <a:latin typeface="Calibri"/>
              </a:rPr>
              <a:t> across 30K cases and 6 surgical blocks</a:t>
            </a:r>
          </a:p>
          <a:p>
            <a:pPr>
              <a:spcBef>
                <a:spcPts val="400"/>
              </a:spcBef>
              <a:spcAft>
                <a:spcPts val="200"/>
              </a:spcAft>
            </a:pPr>
            <a:r>
              <a:rPr b="1" sz="1300">
                <a:solidFill>
                  <a:srgbClr val="333333"/>
                </a:solidFill>
                <a:latin typeface="Calibri"/>
              </a:rPr>
              <a:t>Block utilization heatmap</a:t>
            </a:r>
            <a:r>
              <a:rPr sz="1300">
                <a:solidFill>
                  <a:srgbClr val="333333"/>
                </a:solidFill>
                <a:latin typeface="Calibri"/>
              </a:rPr>
              <a:t> by day of week — visual identification of under/over-utilized blocks</a:t>
            </a:r>
          </a:p>
          <a:p>
            <a:pPr>
              <a:spcBef>
                <a:spcPts val="400"/>
              </a:spcBef>
              <a:spcAft>
                <a:spcPts val="200"/>
              </a:spcAft>
            </a:pPr>
            <a:r>
              <a:rPr b="1" sz="1300">
                <a:solidFill>
                  <a:srgbClr val="333333"/>
                </a:solidFill>
                <a:latin typeface="Calibri"/>
              </a:rPr>
              <a:t>First-case-on-time rate</a:t>
            </a:r>
            <a:r>
              <a:rPr sz="1300">
                <a:solidFill>
                  <a:srgbClr val="333333"/>
                </a:solidFill>
                <a:latin typeface="Calibri"/>
              </a:rPr>
              <a:t> by block and surgeon</a:t>
            </a:r>
          </a:p>
          <a:p>
            <a:pPr>
              <a:spcBef>
                <a:spcPts val="400"/>
              </a:spcBef>
              <a:spcAft>
                <a:spcPts val="200"/>
              </a:spcAft>
            </a:pPr>
            <a:r>
              <a:rPr b="1" sz="1300">
                <a:solidFill>
                  <a:srgbClr val="333333"/>
                </a:solidFill>
                <a:latin typeface="Calibri"/>
              </a:rPr>
              <a:t>Delay distribution analysis</a:t>
            </a:r>
            <a:r>
              <a:rPr sz="1300">
                <a:solidFill>
                  <a:srgbClr val="333333"/>
                </a:solidFill>
                <a:latin typeface="Calibri"/>
              </a:rPr>
              <a:t> — average delay minutes by surgeon, block, and day</a:t>
            </a:r>
          </a:p>
          <a:p>
            <a:pPr>
              <a:spcBef>
                <a:spcPts val="400"/>
              </a:spcBef>
              <a:spcAft>
                <a:spcPts val="200"/>
              </a:spcAft>
            </a:pPr>
            <a:r>
              <a:rPr b="1" sz="1300">
                <a:solidFill>
                  <a:srgbClr val="333333"/>
                </a:solidFill>
                <a:latin typeface="Calibri"/>
              </a:rPr>
              <a:t>Underutilized vs. overtime</a:t>
            </a:r>
            <a:r>
              <a:rPr sz="1300">
                <a:solidFill>
                  <a:srgbClr val="333333"/>
                </a:solidFill>
                <a:latin typeface="Calibri"/>
              </a:rPr>
              <a:t> blocks flagged automatically</a:t>
            </a:r>
          </a:p>
        </p:txBody>
      </p:sp>
      <p:sp>
        <p:nvSpPr>
          <p:cNvPr id="8" name="TextBox 7"/>
          <p:cNvSpPr txBox="1"/>
          <p:nvPr/>
        </p:nvSpPr>
        <p:spPr>
          <a:xfrm>
            <a:off x="640080" y="3822192"/>
            <a:ext cx="10881360" cy="457200"/>
          </a:xfrm>
          <a:prstGeom prst="rect">
            <a:avLst/>
          </a:prstGeom>
          <a:noFill/>
        </p:spPr>
        <p:txBody>
          <a:bodyPr wrap="square">
            <a:spAutoFit/>
          </a:bodyPr>
          <a:lstStyle/>
          <a:p>
            <a:pPr algn="l">
              <a:defRPr sz="2200" b="0">
                <a:solidFill>
                  <a:srgbClr val="29B5E8"/>
                </a:solidFill>
                <a:latin typeface="Calibri"/>
              </a:defRPr>
            </a:pPr>
            <a:r>
              <a:t>Snowflake Differentiator</a:t>
            </a:r>
          </a:p>
        </p:txBody>
      </p:sp>
      <p:sp>
        <p:nvSpPr>
          <p:cNvPr id="9" name="TextBox 8"/>
          <p:cNvSpPr txBox="1"/>
          <p:nvPr/>
        </p:nvSpPr>
        <p:spPr>
          <a:xfrm>
            <a:off x="640080" y="4325112"/>
            <a:ext cx="10881360" cy="320040"/>
          </a:xfrm>
          <a:prstGeom prst="rect">
            <a:avLst/>
          </a:prstGeom>
          <a:noFill/>
        </p:spPr>
        <p:txBody>
          <a:bodyPr wrap="square">
            <a:spAutoFit/>
          </a:bodyPr>
          <a:lstStyle/>
          <a:p>
            <a:pPr algn="l">
              <a:defRPr sz="1400" b="0">
                <a:solidFill>
                  <a:srgbClr val="333333"/>
                </a:solidFill>
                <a:latin typeface="Calibri"/>
              </a:defRPr>
            </a:pPr>
            <a:r>
              <a:t>Streamlit in Snowflake delivers interactive Plotly heatmaps and drill-downs — no ETL to an external BI tool. Data stays in Snowflake, governed by the same masking and access policies.</a:t>
            </a:r>
          </a:p>
        </p:txBody>
      </p:sp>
      <p:sp>
        <p:nvSpPr>
          <p:cNvPr id="10" name="TextBox 9"/>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Business Problem 4: Claim Denials &amp; Revenue Cycle</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The Problem</a:t>
            </a:r>
          </a:p>
        </p:txBody>
      </p:sp>
      <p:sp>
        <p:nvSpPr>
          <p:cNvPr id="5" name="TextBox 4"/>
          <p:cNvSpPr txBox="1"/>
          <p:nvPr/>
        </p:nvSpPr>
        <p:spPr>
          <a:xfrm>
            <a:off x="640080" y="1463040"/>
            <a:ext cx="10881360" cy="320040"/>
          </a:xfrm>
          <a:prstGeom prst="rect">
            <a:avLst/>
          </a:prstGeom>
          <a:noFill/>
        </p:spPr>
        <p:txBody>
          <a:bodyPr wrap="square">
            <a:spAutoFit/>
          </a:bodyPr>
          <a:lstStyle/>
          <a:p>
            <a:pPr algn="l">
              <a:defRPr sz="1400" b="0">
                <a:solidFill>
                  <a:srgbClr val="333333"/>
                </a:solidFill>
                <a:latin typeface="Calibri"/>
              </a:defRPr>
            </a:pPr>
            <a:r>
              <a:t>Denied claims represent billions in lost revenue industry-wide. Revenue cycle teams need to identify denial patterns, prioritize appeals, and detect anomalous spikes before they become systemic.</a:t>
            </a:r>
          </a:p>
        </p:txBody>
      </p:sp>
      <p:sp>
        <p:nvSpPr>
          <p:cNvPr id="6" name="TextBox 5"/>
          <p:cNvSpPr txBox="1"/>
          <p:nvPr/>
        </p:nvSpPr>
        <p:spPr>
          <a:xfrm>
            <a:off x="640080" y="1810512"/>
            <a:ext cx="10881360" cy="457200"/>
          </a:xfrm>
          <a:prstGeom prst="rect">
            <a:avLst/>
          </a:prstGeom>
          <a:noFill/>
        </p:spPr>
        <p:txBody>
          <a:bodyPr wrap="square">
            <a:spAutoFit/>
          </a:bodyPr>
          <a:lstStyle/>
          <a:p>
            <a:pPr algn="l">
              <a:defRPr sz="2200" b="0">
                <a:solidFill>
                  <a:srgbClr val="29B5E8"/>
                </a:solidFill>
                <a:latin typeface="Calibri"/>
              </a:defRPr>
            </a:pPr>
            <a:r>
              <a:t>What Hospital 360 Shows</a:t>
            </a:r>
          </a:p>
        </p:txBody>
      </p:sp>
      <p:sp>
        <p:nvSpPr>
          <p:cNvPr id="7" name="TextBox 6"/>
          <p:cNvSpPr txBox="1"/>
          <p:nvPr/>
        </p:nvSpPr>
        <p:spPr>
          <a:xfrm>
            <a:off x="640080" y="2313432"/>
            <a:ext cx="10881360" cy="3995928"/>
          </a:xfrm>
          <a:prstGeom prst="rect">
            <a:avLst/>
          </a:prstGeom>
          <a:noFill/>
        </p:spPr>
        <p:txBody>
          <a:bodyPr wrap="square">
            <a:spAutoFit/>
          </a:bodyPr>
          <a:lstStyle/>
          <a:p>
            <a:pPr>
              <a:spcBef>
                <a:spcPts val="400"/>
              </a:spcBef>
              <a:spcAft>
                <a:spcPts val="200"/>
              </a:spcAft>
            </a:pPr>
            <a:r>
              <a:rPr b="1" sz="1300">
                <a:solidFill>
                  <a:srgbClr val="333333"/>
                </a:solidFill>
                <a:latin typeface="Calibri"/>
              </a:rPr>
              <a:t>116K denied claim lines</a:t>
            </a:r>
            <a:r>
              <a:rPr sz="1300">
                <a:solidFill>
                  <a:srgbClr val="333333"/>
                </a:solidFill>
                <a:latin typeface="Calibri"/>
              </a:rPr>
              <a:t> across 4 categories: Eligibility, Prior Auth, Coding, Medical Necessity</a:t>
            </a:r>
          </a:p>
          <a:p>
            <a:pPr>
              <a:spcBef>
                <a:spcPts val="400"/>
              </a:spcBef>
              <a:spcAft>
                <a:spcPts val="200"/>
              </a:spcAft>
            </a:pPr>
            <a:r>
              <a:rPr b="1" sz="1300">
                <a:solidFill>
                  <a:srgbClr val="333333"/>
                </a:solidFill>
                <a:latin typeface="Calibri"/>
              </a:rPr>
              <a:t>Appeal success rates</a:t>
            </a:r>
            <a:r>
              <a:rPr sz="1300">
                <a:solidFill>
                  <a:srgbClr val="333333"/>
                </a:solidFill>
                <a:latin typeface="Calibri"/>
              </a:rPr>
              <a:t> by category (Coding errors: 65% recovery, Medical Necessity: 35%)</a:t>
            </a:r>
          </a:p>
          <a:p>
            <a:pPr>
              <a:spcBef>
                <a:spcPts val="400"/>
              </a:spcBef>
              <a:spcAft>
                <a:spcPts val="200"/>
              </a:spcAft>
            </a:pPr>
            <a:r>
              <a:rPr b="1" sz="1300">
                <a:solidFill>
                  <a:srgbClr val="333333"/>
                </a:solidFill>
                <a:latin typeface="Calibri"/>
              </a:rPr>
              <a:t>Timely filing compliance</a:t>
            </a:r>
            <a:r>
              <a:rPr sz="1300">
                <a:solidFill>
                  <a:srgbClr val="333333"/>
                </a:solidFill>
                <a:latin typeface="Calibri"/>
              </a:rPr>
              <a:t> by payer — flags claims filed past the payer's deadline</a:t>
            </a:r>
          </a:p>
          <a:p>
            <a:pPr>
              <a:spcBef>
                <a:spcPts val="400"/>
              </a:spcBef>
              <a:spcAft>
                <a:spcPts val="200"/>
              </a:spcAft>
            </a:pPr>
            <a:r>
              <a:rPr b="1" sz="1300">
                <a:solidFill>
                  <a:srgbClr val="333333"/>
                </a:solidFill>
                <a:latin typeface="Calibri"/>
              </a:rPr>
              <a:t>Cortex ML Anomaly Detection</a:t>
            </a:r>
            <a:r>
              <a:rPr sz="1300">
                <a:solidFill>
                  <a:srgbClr val="333333"/>
                </a:solidFill>
                <a:latin typeface="Calibri"/>
              </a:rPr>
              <a:t> flags unusual daily denial volume spikes — 4+ anomalous periods detected</a:t>
            </a:r>
          </a:p>
        </p:txBody>
      </p:sp>
      <p:sp>
        <p:nvSpPr>
          <p:cNvPr id="8" name="TextBox 7"/>
          <p:cNvSpPr txBox="1"/>
          <p:nvPr/>
        </p:nvSpPr>
        <p:spPr>
          <a:xfrm>
            <a:off x="640080" y="3547872"/>
            <a:ext cx="10881360" cy="457200"/>
          </a:xfrm>
          <a:prstGeom prst="rect">
            <a:avLst/>
          </a:prstGeom>
          <a:noFill/>
        </p:spPr>
        <p:txBody>
          <a:bodyPr wrap="square">
            <a:spAutoFit/>
          </a:bodyPr>
          <a:lstStyle/>
          <a:p>
            <a:pPr algn="l">
              <a:defRPr sz="2200" b="0">
                <a:solidFill>
                  <a:srgbClr val="29B5E8"/>
                </a:solidFill>
                <a:latin typeface="Calibri"/>
              </a:defRPr>
            </a:pPr>
            <a:r>
              <a:t>Snowflake Differentiator</a:t>
            </a:r>
          </a:p>
        </p:txBody>
      </p:sp>
      <p:sp>
        <p:nvSpPr>
          <p:cNvPr id="9" name="TextBox 8"/>
          <p:cNvSpPr txBox="1"/>
          <p:nvPr/>
        </p:nvSpPr>
        <p:spPr>
          <a:xfrm>
            <a:off x="640080" y="4050792"/>
            <a:ext cx="10881360" cy="320040"/>
          </a:xfrm>
          <a:prstGeom prst="rect">
            <a:avLst/>
          </a:prstGeom>
          <a:noFill/>
        </p:spPr>
        <p:txBody>
          <a:bodyPr wrap="square">
            <a:spAutoFit/>
          </a:bodyPr>
          <a:lstStyle/>
          <a:p>
            <a:pPr algn="l">
              <a:defRPr sz="1400" b="0">
                <a:solidFill>
                  <a:srgbClr val="333333"/>
                </a:solidFill>
                <a:latin typeface="Calibri"/>
              </a:defRPr>
            </a:pPr>
            <a:r>
              <a:t>`SNOWFLAKE.ML.ANOMALY_DETECTION` runs directly on Snowflake tables. Time-series anomaly detection without external model training or deployment. Anomaly flags are joined back to actuals for root-cause analysis in the same Streamlit page.</a:t>
            </a:r>
          </a:p>
        </p:txBody>
      </p:sp>
      <p:sp>
        <p:nvSpPr>
          <p:cNvPr id="10" name="TextBox 9"/>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Executive Summary</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Hospital 360: The Complete Snowflake Healthcare Platform</a:t>
            </a:r>
          </a:p>
        </p:txBody>
      </p:sp>
      <p:sp>
        <p:nvSpPr>
          <p:cNvPr id="5" name="TextBox 4"/>
          <p:cNvSpPr txBox="1"/>
          <p:nvPr/>
        </p:nvSpPr>
        <p:spPr>
          <a:xfrm>
            <a:off x="640080" y="1463040"/>
            <a:ext cx="10881360" cy="365760"/>
          </a:xfrm>
          <a:prstGeom prst="rect">
            <a:avLst/>
          </a:prstGeom>
          <a:noFill/>
        </p:spPr>
        <p:txBody>
          <a:bodyPr wrap="square">
            <a:spAutoFit/>
          </a:bodyPr>
          <a:lstStyle/>
          <a:p>
            <a:pPr algn="l">
              <a:defRPr sz="1800" b="1">
                <a:solidFill>
                  <a:srgbClr val="1B2A4A"/>
                </a:solidFill>
                <a:latin typeface="Calibri"/>
              </a:defRPr>
            </a:pPr>
            <a:r>
              <a:t>The Challenge</a:t>
            </a:r>
          </a:p>
        </p:txBody>
      </p:sp>
      <p:sp>
        <p:nvSpPr>
          <p:cNvPr id="6" name="TextBox 5"/>
          <p:cNvSpPr txBox="1"/>
          <p:nvPr/>
        </p:nvSpPr>
        <p:spPr>
          <a:xfrm>
            <a:off x="640080" y="1874520"/>
            <a:ext cx="10881360" cy="320040"/>
          </a:xfrm>
          <a:prstGeom prst="rect">
            <a:avLst/>
          </a:prstGeom>
          <a:noFill/>
        </p:spPr>
        <p:txBody>
          <a:bodyPr wrap="square">
            <a:spAutoFit/>
          </a:bodyPr>
          <a:lstStyle/>
          <a:p>
            <a:pPr algn="l">
              <a:defRPr sz="1400" b="0">
                <a:solidFill>
                  <a:srgbClr val="333333"/>
                </a:solidFill>
                <a:latin typeface="Calibri"/>
              </a:defRPr>
            </a:pPr>
            <a:r>
              <a:t>Health systems operate across siloed clinical, financial, and operational systems. Traditional BI requires months of ETL development, separate ML platforms, and disconnected governance layers.</a:t>
            </a:r>
          </a:p>
        </p:txBody>
      </p:sp>
      <p:sp>
        <p:nvSpPr>
          <p:cNvPr id="7" name="TextBox 6"/>
          <p:cNvSpPr txBox="1"/>
          <p:nvPr/>
        </p:nvSpPr>
        <p:spPr>
          <a:xfrm>
            <a:off x="640080" y="2221992"/>
            <a:ext cx="10881360" cy="365760"/>
          </a:xfrm>
          <a:prstGeom prst="rect">
            <a:avLst/>
          </a:prstGeom>
          <a:noFill/>
        </p:spPr>
        <p:txBody>
          <a:bodyPr wrap="square">
            <a:spAutoFit/>
          </a:bodyPr>
          <a:lstStyle/>
          <a:p>
            <a:pPr algn="l">
              <a:defRPr sz="1800" b="1">
                <a:solidFill>
                  <a:srgbClr val="1B2A4A"/>
                </a:solidFill>
                <a:latin typeface="Calibri"/>
              </a:defRPr>
            </a:pPr>
            <a:r>
              <a:t>The Snowflake Approach</a:t>
            </a:r>
          </a:p>
        </p:txBody>
      </p:sp>
      <p:sp>
        <p:nvSpPr>
          <p:cNvPr id="8" name="TextBox 7"/>
          <p:cNvSpPr txBox="1"/>
          <p:nvPr/>
        </p:nvSpPr>
        <p:spPr>
          <a:xfrm>
            <a:off x="640080" y="2633472"/>
            <a:ext cx="10881360" cy="320040"/>
          </a:xfrm>
          <a:prstGeom prst="rect">
            <a:avLst/>
          </a:prstGeom>
          <a:noFill/>
        </p:spPr>
        <p:txBody>
          <a:bodyPr wrap="square">
            <a:spAutoFit/>
          </a:bodyPr>
          <a:lstStyle/>
          <a:p>
            <a:pPr algn="l">
              <a:defRPr sz="1400" b="0">
                <a:solidFill>
                  <a:srgbClr val="333333"/>
                </a:solidFill>
                <a:latin typeface="Calibri"/>
              </a:defRPr>
            </a:pPr>
            <a:r>
              <a:t>Hospital 360 demonstrates that a single Snowflake account can replace the patchwork:</a:t>
            </a:r>
          </a:p>
        </p:txBody>
      </p:sp>
      <p:graphicFrame>
        <p:nvGraphicFramePr>
          <p:cNvPr id="9" name="Table 8"/>
          <p:cNvGraphicFramePr>
            <a:graphicFrameLocks noGrp="1"/>
          </p:cNvGraphicFramePr>
          <p:nvPr/>
        </p:nvGraphicFramePr>
        <p:xfrm>
          <a:off x="640080" y="2980944"/>
          <a:ext cx="10881360" cy="2560320"/>
        </p:xfrm>
        <a:graphic>
          <a:graphicData uri="http://schemas.openxmlformats.org/drawingml/2006/table">
            <a:tbl>
              <a:tblPr firstRow="1" bandRow="1">
                <a:tableStyleId>{5C22544A-7EE6-4342-B048-85BDC9FD1C3A}</a:tableStyleId>
              </a:tblPr>
              <a:tblGrid>
                <a:gridCol w="5440680"/>
                <a:gridCol w="5440680"/>
              </a:tblGrid>
              <a:tr h="320040">
                <a:tc>
                  <a:txBody>
                    <a:bodyPr/>
                    <a:lstStyle/>
                    <a:p>
                      <a:pPr>
                        <a:defRPr sz="1100" b="1">
                          <a:solidFill>
                            <a:srgbClr val="FFFFFF"/>
                          </a:solidFill>
                          <a:latin typeface="Calibri"/>
                        </a:defRPr>
                      </a:pPr>
                      <a:r>
                        <a:t>Traditional Stack</a:t>
                      </a:r>
                    </a:p>
                  </a:txBody>
                  <a:tcPr>
                    <a:solidFill>
                      <a:srgbClr val="29B5E8"/>
                    </a:solidFill>
                  </a:tcPr>
                </a:tc>
                <a:tc>
                  <a:txBody>
                    <a:bodyPr/>
                    <a:lstStyle/>
                    <a:p>
                      <a:pPr>
                        <a:defRPr sz="1100" b="1">
                          <a:solidFill>
                            <a:srgbClr val="FFFFFF"/>
                          </a:solidFill>
                          <a:latin typeface="Calibri"/>
                        </a:defRPr>
                      </a:pPr>
                      <a:r>
                        <a:t>Hospital 360 on Snowflake</a:t>
                      </a:r>
                    </a:p>
                  </a:txBody>
                  <a:tcPr>
                    <a:solidFill>
                      <a:srgbClr val="29B5E8"/>
                    </a:solidFill>
                  </a:tcPr>
                </a:tc>
              </a:tr>
              <a:tr h="320040">
                <a:tc>
                  <a:txBody>
                    <a:bodyPr/>
                    <a:lstStyle/>
                    <a:p>
                      <a:pPr>
                        <a:defRPr sz="1100">
                          <a:solidFill>
                            <a:srgbClr val="333333"/>
                          </a:solidFill>
                          <a:latin typeface="Calibri"/>
                        </a:defRPr>
                      </a:pPr>
                      <a:r>
                        <a:t>Separate data warehouse + data lake</a:t>
                      </a:r>
                    </a:p>
                  </a:txBody>
                  <a:tcPr/>
                </a:tc>
                <a:tc>
                  <a:txBody>
                    <a:bodyPr/>
                    <a:lstStyle/>
                    <a:p>
                      <a:pPr>
                        <a:defRPr sz="1100">
                          <a:solidFill>
                            <a:srgbClr val="333333"/>
                          </a:solidFill>
                          <a:latin typeface="Calibri"/>
                        </a:defRPr>
                      </a:pPr>
                      <a:r>
                        <a:t>Medallion architecture (5 databases)</a:t>
                      </a:r>
                    </a:p>
                  </a:txBody>
                  <a:tcPr/>
                </a:tc>
              </a:tr>
              <a:tr h="320040">
                <a:tc>
                  <a:txBody>
                    <a:bodyPr/>
                    <a:lstStyle/>
                    <a:p>
                      <a:pPr>
                        <a:defRPr sz="1100">
                          <a:solidFill>
                            <a:srgbClr val="333333"/>
                          </a:solidFill>
                          <a:latin typeface="Calibri"/>
                        </a:defRPr>
                      </a:pPr>
                      <a:r>
                        <a:t>External BI tool (Tableau, Power BI)</a:t>
                      </a:r>
                    </a:p>
                  </a:txBody>
                  <a:tcPr>
                    <a:solidFill>
                      <a:srgbClr val="EBF7FC"/>
                    </a:solidFill>
                  </a:tcPr>
                </a:tc>
                <a:tc>
                  <a:txBody>
                    <a:bodyPr/>
                    <a:lstStyle/>
                    <a:p>
                      <a:pPr>
                        <a:defRPr sz="1100">
                          <a:solidFill>
                            <a:srgbClr val="333333"/>
                          </a:solidFill>
                          <a:latin typeface="Calibri"/>
                        </a:defRPr>
                      </a:pPr>
                      <a:r>
                        <a:t>Streamlit in Snowflake (9 pages)</a:t>
                      </a:r>
                    </a:p>
                  </a:txBody>
                  <a:tcPr>
                    <a:solidFill>
                      <a:srgbClr val="EBF7FC"/>
                    </a:solidFill>
                  </a:tcPr>
                </a:tc>
              </a:tr>
              <a:tr h="320040">
                <a:tc>
                  <a:txBody>
                    <a:bodyPr/>
                    <a:lstStyle/>
                    <a:p>
                      <a:pPr>
                        <a:defRPr sz="1100">
                          <a:solidFill>
                            <a:srgbClr val="333333"/>
                          </a:solidFill>
                          <a:latin typeface="Calibri"/>
                        </a:defRPr>
                      </a:pPr>
                      <a:r>
                        <a:t>Separate ML platform (SageMaker, Vertex)</a:t>
                      </a:r>
                    </a:p>
                  </a:txBody>
                  <a:tcPr/>
                </a:tc>
                <a:tc>
                  <a:txBody>
                    <a:bodyPr/>
                    <a:lstStyle/>
                    <a:p>
                      <a:pPr>
                        <a:defRPr sz="1100">
                          <a:solidFill>
                            <a:srgbClr val="333333"/>
                          </a:solidFill>
                          <a:latin typeface="Calibri"/>
                        </a:defRPr>
                      </a:pPr>
                      <a:r>
                        <a:t>Cortex ML (Forecast, Anomaly, Insights)</a:t>
                      </a:r>
                    </a:p>
                  </a:txBody>
                  <a:tcPr/>
                </a:tc>
              </a:tr>
              <a:tr h="320040">
                <a:tc>
                  <a:txBody>
                    <a:bodyPr/>
                    <a:lstStyle/>
                    <a:p>
                      <a:pPr>
                        <a:defRPr sz="1100">
                          <a:solidFill>
                            <a:srgbClr val="333333"/>
                          </a:solidFill>
                          <a:latin typeface="Calibri"/>
                        </a:defRPr>
                      </a:pPr>
                      <a:r>
                        <a:t>Custom NLP chatbot</a:t>
                      </a:r>
                    </a:p>
                  </a:txBody>
                  <a:tcPr>
                    <a:solidFill>
                      <a:srgbClr val="EBF7FC"/>
                    </a:solidFill>
                  </a:tcPr>
                </a:tc>
                <a:tc>
                  <a:txBody>
                    <a:bodyPr/>
                    <a:lstStyle/>
                    <a:p>
                      <a:pPr>
                        <a:defRPr sz="1100">
                          <a:solidFill>
                            <a:srgbClr val="333333"/>
                          </a:solidFill>
                          <a:latin typeface="Calibri"/>
                        </a:defRPr>
                      </a:pPr>
                      <a:r>
                        <a:t>Cortex Analyst + Cortex Agent</a:t>
                      </a:r>
                    </a:p>
                  </a:txBody>
                  <a:tcPr>
                    <a:solidFill>
                      <a:srgbClr val="EBF7FC"/>
                    </a:solidFill>
                  </a:tcPr>
                </a:tc>
              </a:tr>
              <a:tr h="320040">
                <a:tc>
                  <a:txBody>
                    <a:bodyPr/>
                    <a:lstStyle/>
                    <a:p>
                      <a:pPr>
                        <a:defRPr sz="1100">
                          <a:solidFill>
                            <a:srgbClr val="333333"/>
                          </a:solidFill>
                          <a:latin typeface="Calibri"/>
                        </a:defRPr>
                      </a:pPr>
                      <a:r>
                        <a:t>Manual governance tagging</a:t>
                      </a:r>
                    </a:p>
                  </a:txBody>
                  <a:tcPr/>
                </a:tc>
                <a:tc>
                  <a:txBody>
                    <a:bodyPr/>
                    <a:lstStyle/>
                    <a:p>
                      <a:pPr>
                        <a:defRPr sz="1100">
                          <a:solidFill>
                            <a:srgbClr val="333333"/>
                          </a:solidFill>
                          <a:latin typeface="Calibri"/>
                        </a:defRPr>
                      </a:pPr>
                      <a:r>
                        <a:t>Native tags, masking policies, RAPs</a:t>
                      </a:r>
                    </a:p>
                  </a:txBody>
                  <a:tcPr/>
                </a:tc>
              </a:tr>
              <a:tr h="320040">
                <a:tc>
                  <a:txBody>
                    <a:bodyPr/>
                    <a:lstStyle/>
                    <a:p>
                      <a:pPr>
                        <a:defRPr sz="1100">
                          <a:solidFill>
                            <a:srgbClr val="333333"/>
                          </a:solidFill>
                          <a:latin typeface="Calibri"/>
                        </a:defRPr>
                      </a:pPr>
                      <a:r>
                        <a:t>External orchestration (Airflow)</a:t>
                      </a:r>
                    </a:p>
                  </a:txBody>
                  <a:tcPr>
                    <a:solidFill>
                      <a:srgbClr val="EBF7FC"/>
                    </a:solidFill>
                  </a:tcPr>
                </a:tc>
                <a:tc>
                  <a:txBody>
                    <a:bodyPr/>
                    <a:lstStyle/>
                    <a:p>
                      <a:pPr>
                        <a:defRPr sz="1100">
                          <a:solidFill>
                            <a:srgbClr val="333333"/>
                          </a:solidFill>
                          <a:latin typeface="Calibri"/>
                        </a:defRPr>
                      </a:pPr>
                      <a:r>
                        <a:t>Snowflake Tasks (5-task DAG)</a:t>
                      </a:r>
                    </a:p>
                  </a:txBody>
                  <a:tcPr>
                    <a:solidFill>
                      <a:srgbClr val="EBF7FC"/>
                    </a:solidFill>
                  </a:tcPr>
                </a:tc>
              </a:tr>
              <a:tr h="320040">
                <a:tc>
                  <a:txBody>
                    <a:bodyPr/>
                    <a:lstStyle/>
                    <a:p>
                      <a:pPr>
                        <a:defRPr sz="1100">
                          <a:solidFill>
                            <a:srgbClr val="333333"/>
                          </a:solidFill>
                          <a:latin typeface="Calibri"/>
                        </a:defRPr>
                      </a:pPr>
                      <a:r>
                        <a:t>Separate data quality tool</a:t>
                      </a:r>
                    </a:p>
                  </a:txBody>
                  <a:tcPr/>
                </a:tc>
                <a:tc>
                  <a:txBody>
                    <a:bodyPr/>
                    <a:lstStyle/>
                    <a:p>
                      <a:pPr>
                        <a:defRPr sz="1100">
                          <a:solidFill>
                            <a:srgbClr val="333333"/>
                          </a:solidFill>
                          <a:latin typeface="Calibri"/>
                        </a:defRPr>
                      </a:pPr>
                      <a:r>
                        <a:t>SQL stored procedures + monitoring tables</a:t>
                      </a:r>
                    </a:p>
                  </a:txBody>
                  <a:tcPr/>
                </a:tc>
              </a:tr>
            </a:tbl>
          </a:graphicData>
        </a:graphic>
      </p:graphicFrame>
      <p:sp>
        <p:nvSpPr>
          <p:cNvPr id="10" name="TextBox 9"/>
          <p:cNvSpPr txBox="1"/>
          <p:nvPr/>
        </p:nvSpPr>
        <p:spPr>
          <a:xfrm>
            <a:off x="640080" y="5532120"/>
            <a:ext cx="10881360" cy="365760"/>
          </a:xfrm>
          <a:prstGeom prst="rect">
            <a:avLst/>
          </a:prstGeom>
          <a:noFill/>
        </p:spPr>
        <p:txBody>
          <a:bodyPr wrap="square">
            <a:spAutoFit/>
          </a:bodyPr>
          <a:lstStyle/>
          <a:p>
            <a:pPr algn="l">
              <a:defRPr sz="1800" b="1">
                <a:solidFill>
                  <a:srgbClr val="1B2A4A"/>
                </a:solidFill>
                <a:latin typeface="Calibri"/>
              </a:defRPr>
            </a:pPr>
            <a:r>
              <a:t>Key Outcomes</a:t>
            </a:r>
          </a:p>
        </p:txBody>
      </p:sp>
      <p:sp>
        <p:nvSpPr>
          <p:cNvPr id="11" name="TextBox 10"/>
          <p:cNvSpPr txBox="1"/>
          <p:nvPr/>
        </p:nvSpPr>
        <p:spPr>
          <a:xfrm>
            <a:off x="640080" y="5943600"/>
            <a:ext cx="10881360" cy="365760"/>
          </a:xfrm>
          <a:prstGeom prst="rect">
            <a:avLst/>
          </a:prstGeom>
          <a:noFill/>
        </p:spPr>
        <p:txBody>
          <a:bodyPr wrap="square">
            <a:spAutoFit/>
          </a:bodyPr>
          <a:lstStyle/>
          <a:p>
            <a:pPr>
              <a:spcBef>
                <a:spcPts val="400"/>
              </a:spcBef>
              <a:spcAft>
                <a:spcPts val="200"/>
              </a:spcAft>
            </a:pPr>
            <a:r>
              <a:rPr b="1" sz="1300">
                <a:solidFill>
                  <a:srgbClr val="333333"/>
                </a:solidFill>
                <a:latin typeface="Calibri"/>
              </a:rPr>
              <a:t>Readmissions</a:t>
            </a:r>
            <a:r>
              <a:rPr sz="1300">
                <a:solidFill>
                  <a:srgbClr val="333333"/>
                </a:solidFill>
                <a:latin typeface="Calibri"/>
              </a:rPr>
              <a:t>: Identify top DRGs and patient segments driving 30-day readmits — target interventions</a:t>
            </a:r>
          </a:p>
          <a:p>
            <a:pPr>
              <a:spcBef>
                <a:spcPts val="400"/>
              </a:spcBef>
              <a:spcAft>
                <a:spcPts val="200"/>
              </a:spcAft>
            </a:pPr>
            <a:r>
              <a:rPr b="1" sz="1300">
                <a:solidFill>
                  <a:srgbClr val="333333"/>
                </a:solidFill>
                <a:latin typeface="Calibri"/>
              </a:rPr>
              <a:t>Leakage</a:t>
            </a:r>
            <a:r>
              <a:rPr sz="1300">
                <a:solidFill>
                  <a:srgbClr val="333333"/>
                </a:solidFill>
                <a:latin typeface="Calibri"/>
              </a:rPr>
              <a:t>: Recover $M by identifying specialty + payer combinations with highest referral leakage</a:t>
            </a:r>
          </a:p>
          <a:p>
            <a:pPr>
              <a:spcBef>
                <a:spcPts val="400"/>
              </a:spcBef>
              <a:spcAft>
                <a:spcPts val="200"/>
              </a:spcAft>
            </a:pPr>
            <a:r>
              <a:rPr b="1" sz="1300">
                <a:solidFill>
                  <a:srgbClr val="333333"/>
                </a:solidFill>
                <a:latin typeface="Calibri"/>
              </a:rPr>
              <a:t>OR Capacity</a:t>
            </a:r>
            <a:r>
              <a:rPr sz="1300">
                <a:solidFill>
                  <a:srgbClr val="333333"/>
                </a:solidFill>
                <a:latin typeface="Calibri"/>
              </a:rPr>
              <a:t>: Optimize block scheduling by surfacing underutilized time and chronic delays</a:t>
            </a:r>
          </a:p>
          <a:p>
            <a:pPr>
              <a:spcBef>
                <a:spcPts val="400"/>
              </a:spcBef>
              <a:spcAft>
                <a:spcPts val="200"/>
              </a:spcAft>
            </a:pPr>
            <a:r>
              <a:rPr b="1" sz="1300">
                <a:solidFill>
                  <a:srgbClr val="333333"/>
                </a:solidFill>
                <a:latin typeface="Calibri"/>
              </a:rPr>
              <a:t>Denials</a:t>
            </a:r>
            <a:r>
              <a:rPr sz="1300">
                <a:solidFill>
                  <a:srgbClr val="333333"/>
                </a:solidFill>
                <a:latin typeface="Calibri"/>
              </a:rPr>
              <a:t>: Prioritize appeals by category and detect anomalous denial spikes early</a:t>
            </a:r>
          </a:p>
          <a:p>
            <a:pPr>
              <a:spcBef>
                <a:spcPts val="400"/>
              </a:spcBef>
              <a:spcAft>
                <a:spcPts val="200"/>
              </a:spcAft>
            </a:pPr>
            <a:r>
              <a:rPr b="1" sz="1300">
                <a:solidFill>
                  <a:srgbClr val="333333"/>
                </a:solidFill>
                <a:latin typeface="Calibri"/>
              </a:rPr>
              <a:t>All governed</a:t>
            </a:r>
            <a:r>
              <a:rPr sz="1300">
                <a:solidFill>
                  <a:srgbClr val="333333"/>
                </a:solidFill>
                <a:latin typeface="Calibri"/>
              </a:rPr>
              <a:t> by HIPAA-aligned masking — clinicians see full PHI, executives see pseudonymized data</a:t>
            </a:r>
          </a:p>
        </p:txBody>
      </p:sp>
      <p:sp>
        <p:nvSpPr>
          <p:cNvPr id="12" name="TextBox 11"/>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Demo Script: Executive Dashboard &amp; Use-Case Drill-Downs</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Page: Executive Summary (streamlit_app.py)</a:t>
            </a:r>
          </a:p>
        </p:txBody>
      </p:sp>
      <p:sp>
        <p:nvSpPr>
          <p:cNvPr id="5" name="TextBox 4"/>
          <p:cNvSpPr txBox="1"/>
          <p:nvPr/>
        </p:nvSpPr>
        <p:spPr>
          <a:xfrm>
            <a:off x="640080" y="1463040"/>
            <a:ext cx="10881360" cy="365760"/>
          </a:xfrm>
          <a:prstGeom prst="rect">
            <a:avLst/>
          </a:prstGeom>
          <a:noFill/>
        </p:spPr>
        <p:txBody>
          <a:bodyPr wrap="square">
            <a:spAutoFit/>
          </a:bodyPr>
          <a:lstStyle/>
          <a:p>
            <a:pPr algn="l">
              <a:defRPr sz="1800" b="1">
                <a:solidFill>
                  <a:srgbClr val="1B2A4A"/>
                </a:solidFill>
                <a:latin typeface="Calibri"/>
              </a:defRPr>
            </a:pPr>
            <a:r>
              <a:t>Setup</a:t>
            </a:r>
          </a:p>
        </p:txBody>
      </p:sp>
      <p:sp>
        <p:nvSpPr>
          <p:cNvPr id="6" name="TextBox 5"/>
          <p:cNvSpPr txBox="1"/>
          <p:nvPr/>
        </p:nvSpPr>
        <p:spPr>
          <a:xfrm>
            <a:off x="640080" y="1874520"/>
            <a:ext cx="10881360" cy="320040"/>
          </a:xfrm>
          <a:prstGeom prst="rect">
            <a:avLst/>
          </a:prstGeom>
          <a:noFill/>
        </p:spPr>
        <p:txBody>
          <a:bodyPr wrap="square">
            <a:spAutoFit/>
          </a:bodyPr>
          <a:lstStyle/>
          <a:p>
            <a:pPr algn="l">
              <a:defRPr sz="1400" b="0">
                <a:solidFill>
                  <a:srgbClr val="333333"/>
                </a:solidFill>
                <a:latin typeface="Calibri"/>
              </a:defRPr>
            </a:pPr>
            <a:r>
              <a:t>Open the Streamlit app in Snowsight. The Executive Summary page loads automatically.</a:t>
            </a:r>
          </a:p>
        </p:txBody>
      </p:sp>
      <p:sp>
        <p:nvSpPr>
          <p:cNvPr id="7" name="TextBox 6"/>
          <p:cNvSpPr txBox="1"/>
          <p:nvPr/>
        </p:nvSpPr>
        <p:spPr>
          <a:xfrm>
            <a:off x="640080" y="2221992"/>
            <a:ext cx="10881360" cy="365760"/>
          </a:xfrm>
          <a:prstGeom prst="rect">
            <a:avLst/>
          </a:prstGeom>
          <a:noFill/>
        </p:spPr>
        <p:txBody>
          <a:bodyPr wrap="square">
            <a:spAutoFit/>
          </a:bodyPr>
          <a:lstStyle/>
          <a:p>
            <a:pPr algn="l">
              <a:defRPr sz="1800" b="1">
                <a:solidFill>
                  <a:srgbClr val="1B2A4A"/>
                </a:solidFill>
                <a:latin typeface="Calibri"/>
              </a:defRPr>
            </a:pPr>
            <a:r>
              <a:t>Walkthrough (3-4 minutes)</a:t>
            </a:r>
          </a:p>
        </p:txBody>
      </p:sp>
      <p:sp>
        <p:nvSpPr>
          <p:cNvPr id="8" name="TextBox 7"/>
          <p:cNvSpPr txBox="1"/>
          <p:nvPr/>
        </p:nvSpPr>
        <p:spPr>
          <a:xfrm>
            <a:off x="640080" y="2633472"/>
            <a:ext cx="10881360" cy="3675888"/>
          </a:xfrm>
          <a:prstGeom prst="rect">
            <a:avLst/>
          </a:prstGeom>
          <a:noFill/>
        </p:spPr>
        <p:txBody>
          <a:bodyPr wrap="square">
            <a:spAutoFit/>
          </a:bodyPr>
          <a:lstStyle/>
          <a:p>
            <a:pPr>
              <a:spcBef>
                <a:spcPts val="400"/>
              </a:spcBef>
              <a:spcAft>
                <a:spcPts val="200"/>
              </a:spcAft>
            </a:pPr>
            <a:r>
              <a:rPr b="1" sz="1300">
                <a:solidFill>
                  <a:srgbClr val="333333"/>
                </a:solidFill>
                <a:latin typeface="Calibri"/>
              </a:rPr>
              <a:t>KPI Row</a:t>
            </a:r>
            <a:r>
              <a:rPr sz="1300">
                <a:solidFill>
                  <a:srgbClr val="333333"/>
                </a:solidFill>
                <a:latin typeface="Calibri"/>
              </a:rPr>
              <a:t> — Point out the 6 headline metrics across the top:</a:t>
            </a:r>
          </a:p>
          <a:p>
            <a:pPr lvl="1">
              <a:spcBef>
                <a:spcPts val="400"/>
              </a:spcBef>
              <a:spcAft>
                <a:spcPts val="200"/>
              </a:spcAft>
            </a:pPr>
            <a:r>
              <a:rPr sz="1300">
                <a:solidFill>
                  <a:srgbClr val="333333"/>
                </a:solidFill>
                <a:latin typeface="Calibri"/>
              </a:rPr>
              <a:t>"200K encounters across 5 facilities over 18 months"</a:t>
            </a:r>
          </a:p>
          <a:p>
            <a:pPr lvl="1">
              <a:spcBef>
                <a:spcPts val="400"/>
              </a:spcBef>
              <a:spcAft>
                <a:spcPts val="200"/>
              </a:spcAft>
            </a:pPr>
            <a:r>
              <a:rPr sz="1300">
                <a:solidFill>
                  <a:srgbClr val="333333"/>
                </a:solidFill>
                <a:latin typeface="Calibri"/>
              </a:rPr>
              <a:t>"12% readmission rate — we'll explore what's driving that"</a:t>
            </a:r>
          </a:p>
          <a:p>
            <a:pPr lvl="1">
              <a:spcBef>
                <a:spcPts val="400"/>
              </a:spcBef>
              <a:spcAft>
                <a:spcPts val="200"/>
              </a:spcAft>
            </a:pPr>
            <a:r>
              <a:rPr sz="1300">
                <a:solidFill>
                  <a:srgbClr val="333333"/>
                </a:solidFill>
                <a:latin typeface="Calibri"/>
              </a:rPr>
              <a:t>"15.2% leakage rate — that's revenue walking out the door"</a:t>
            </a:r>
          </a:p>
          <a:p>
            <a:pPr lvl="1">
              <a:spcBef>
                <a:spcPts val="400"/>
              </a:spcBef>
              <a:spcAft>
                <a:spcPts val="200"/>
              </a:spcAft>
            </a:pPr>
            <a:r>
              <a:rPr sz="1300">
                <a:solidFill>
                  <a:srgbClr val="333333"/>
                </a:solidFill>
                <a:latin typeface="Calibri"/>
              </a:rPr>
              <a:t>"84.3% OR utilization — room for optimization"</a:t>
            </a:r>
          </a:p>
          <a:p>
            <a:pPr lvl="1">
              <a:spcBef>
                <a:spcPts val="400"/>
              </a:spcBef>
              <a:spcAft>
                <a:spcPts val="200"/>
              </a:spcAft>
            </a:pPr>
            <a:r>
              <a:rPr sz="1300">
                <a:solidFill>
                  <a:srgbClr val="333333"/>
                </a:solidFill>
                <a:latin typeface="Calibri"/>
              </a:rPr>
              <a:t>"Denied charges total — the revenue cycle opportunity"</a:t>
            </a:r>
          </a:p>
          <a:p>
            <a:pPr lvl="1">
              <a:spcBef>
                <a:spcPts val="400"/>
              </a:spcBef>
              <a:spcAft>
                <a:spcPts val="200"/>
              </a:spcAft>
            </a:pPr>
            <a:r>
              <a:rPr sz="1300">
                <a:solidFill>
                  <a:srgbClr val="333333"/>
                </a:solidFill>
                <a:latin typeface="Calibri"/>
              </a:rPr>
              <a:t>"1,286 ML predictions running natively in Snowflake"</a:t>
            </a:r>
          </a:p>
          <a:p>
            <a:pPr>
              <a:spcBef>
                <a:spcPts val="400"/>
              </a:spcBef>
              <a:spcAft>
                <a:spcPts val="200"/>
              </a:spcAft>
            </a:pPr>
            <a:r>
              <a:rPr b="1" sz="1300">
                <a:solidFill>
                  <a:srgbClr val="333333"/>
                </a:solidFill>
                <a:latin typeface="Calibri"/>
              </a:rPr>
              <a:t>Trend Sparklines</a:t>
            </a:r>
            <a:r>
              <a:rPr sz="1300">
                <a:solidFill>
                  <a:srgbClr val="333333"/>
                </a:solidFill>
                <a:latin typeface="Calibri"/>
              </a:rPr>
              <a:t> — Show the 3 monthly trend charts:</a:t>
            </a:r>
          </a:p>
          <a:p>
            <a:pPr lvl="1">
              <a:spcBef>
                <a:spcPts val="400"/>
              </a:spcBef>
              <a:spcAft>
                <a:spcPts val="200"/>
              </a:spcAft>
            </a:pPr>
            <a:r>
              <a:rPr sz="1300">
                <a:solidFill>
                  <a:srgbClr val="333333"/>
                </a:solidFill>
                <a:latin typeface="Calibri"/>
              </a:rPr>
              <a:t>"Encounter volume is seasonal — you can see the dip around holidays"</a:t>
            </a:r>
          </a:p>
          <a:p>
            <a:pPr lvl="1">
              <a:spcBef>
                <a:spcPts val="400"/>
              </a:spcBef>
              <a:spcAft>
                <a:spcPts val="200"/>
              </a:spcAft>
            </a:pPr>
            <a:r>
              <a:rPr sz="1300">
                <a:solidFill>
                  <a:srgbClr val="333333"/>
                </a:solidFill>
                <a:latin typeface="Calibri"/>
              </a:rPr>
              <a:t>"Readmission rate has been stable at 12% — but are certain DRGs worse?"</a:t>
            </a:r>
          </a:p>
          <a:p>
            <a:pPr lvl="1">
              <a:spcBef>
                <a:spcPts val="400"/>
              </a:spcBef>
              <a:spcAft>
                <a:spcPts val="200"/>
              </a:spcAft>
            </a:pPr>
            <a:r>
              <a:rPr sz="1300">
                <a:solidFill>
                  <a:srgbClr val="333333"/>
                </a:solidFill>
                <a:latin typeface="Calibri"/>
              </a:rPr>
              <a:t>"Leakage rate varies by quarter — let's drill into that"</a:t>
            </a:r>
          </a:p>
          <a:p>
            <a:pPr>
              <a:spcBef>
                <a:spcPts val="400"/>
              </a:spcBef>
              <a:spcAft>
                <a:spcPts val="200"/>
              </a:spcAft>
            </a:pPr>
            <a:r>
              <a:rPr b="1" sz="1300">
                <a:solidFill>
                  <a:srgbClr val="333333"/>
                </a:solidFill>
                <a:latin typeface="Calibri"/>
              </a:rPr>
              <a:t>Use-Case Cards</a:t>
            </a:r>
            <a:r>
              <a:rPr sz="1300">
                <a:solidFill>
                  <a:srgbClr val="333333"/>
                </a:solidFill>
                <a:latin typeface="Calibri"/>
              </a:rPr>
              <a:t> — Click into each one to demonstrate:</a:t>
            </a:r>
          </a:p>
          <a:p>
            <a:pPr lvl="1">
              <a:spcBef>
                <a:spcPts val="400"/>
              </a:spcBef>
              <a:spcAft>
                <a:spcPts val="200"/>
              </a:spcAft>
            </a:pPr>
            <a:r>
              <a:rPr sz="1300">
                <a:solidFill>
                  <a:srgbClr val="333333"/>
                </a:solidFill>
                <a:latin typeface="Calibri"/>
              </a:rPr>
              <a:t>"Top readmitted DRG, highest leakage specialty, lowest utilized OR block, top denial category — each links to a deep-dive page"</a:t>
            </a:r>
          </a:p>
          <a:p>
            <a:pPr>
              <a:spcBef>
                <a:spcPts val="400"/>
              </a:spcBef>
              <a:spcAft>
                <a:spcPts val="200"/>
              </a:spcAft>
            </a:pPr>
            <a:r>
              <a:rPr b="1" sz="1300">
                <a:solidFill>
                  <a:srgbClr val="333333"/>
                </a:solidFill>
                <a:latin typeface="Calibri"/>
              </a:rPr>
              <a:t>ML Quick-Look</a:t>
            </a:r>
            <a:r>
              <a:rPr sz="1300">
                <a:solidFill>
                  <a:srgbClr val="333333"/>
                </a:solidFill>
                <a:latin typeface="Calibri"/>
              </a:rPr>
              <a:t> — Show the forecast chart and anomaly summary:</a:t>
            </a:r>
          </a:p>
          <a:p>
            <a:pPr lvl="1">
              <a:spcBef>
                <a:spcPts val="400"/>
              </a:spcBef>
              <a:spcAft>
                <a:spcPts val="200"/>
              </a:spcAft>
            </a:pPr>
            <a:r>
              <a:rPr sz="1300">
                <a:solidFill>
                  <a:srgbClr val="333333"/>
                </a:solidFill>
                <a:latin typeface="Calibri"/>
              </a:rPr>
              <a:t>"This 90-day encounter forecast was generated by Cortex ML FORECAST — no Python, no notebooks. And we've detected anomalous denial patterns that revenue cycle should investigate."</a:t>
            </a:r>
          </a:p>
          <a:p>
            <a:pPr>
              <a:spcBef>
                <a:spcPts val="400"/>
              </a:spcBef>
              <a:spcAft>
                <a:spcPts val="200"/>
              </a:spcAft>
            </a:pPr>
            <a:r>
              <a:rPr b="1" sz="1300">
                <a:solidFill>
                  <a:srgbClr val="333333"/>
                </a:solidFill>
                <a:latin typeface="Calibri"/>
              </a:rPr>
              <a:t>Drill into Readmission &amp; LOS page</a:t>
            </a:r>
            <a:r>
              <a:rPr sz="1300">
                <a:solidFill>
                  <a:srgbClr val="333333"/>
                </a:solidFill>
                <a:latin typeface="Calibri"/>
              </a:rPr>
              <a:t> — Click "View Details":</a:t>
            </a:r>
          </a:p>
          <a:p>
            <a:pPr lvl="1">
              <a:spcBef>
                <a:spcPts val="400"/>
              </a:spcBef>
              <a:spcAft>
                <a:spcPts val="200"/>
              </a:spcAft>
            </a:pPr>
            <a:r>
              <a:rPr sz="1300">
                <a:solidFill>
                  <a:srgbClr val="333333"/>
                </a:solidFill>
                <a:latin typeface="Calibri"/>
              </a:rPr>
              <a:t>Show facility filter, encounter type filter, payer filter</a:t>
            </a:r>
          </a:p>
          <a:p>
            <a:pPr lvl="1">
              <a:spcBef>
                <a:spcPts val="400"/>
              </a:spcBef>
              <a:spcAft>
                <a:spcPts val="200"/>
              </a:spcAft>
            </a:pPr>
            <a:r>
              <a:rPr sz="1300">
                <a:solidFill>
                  <a:srgbClr val="333333"/>
                </a:solidFill>
                <a:latin typeface="Calibri"/>
              </a:rPr>
              <a:t>Point out the Top 10 DRGs by readmission rate bar chart</a:t>
            </a:r>
          </a:p>
          <a:p>
            <a:pPr lvl="1">
              <a:spcBef>
                <a:spcPts val="400"/>
              </a:spcBef>
              <a:spcAft>
                <a:spcPts val="200"/>
              </a:spcAft>
            </a:pPr>
            <a:r>
              <a:rPr sz="1300">
                <a:solidFill>
                  <a:srgbClr val="333333"/>
                </a:solidFill>
                <a:latin typeface="Calibri"/>
              </a:rPr>
              <a:t>Expand the ML Drivers section: "Cortex ML TOP_INSIGHTS automatically identified which patient segments are driving readmission changes — DRG, payer type, age bucket"</a:t>
            </a:r>
          </a:p>
          <a:p>
            <a:pPr lvl="1">
              <a:spcBef>
                <a:spcPts val="400"/>
              </a:spcBef>
              <a:spcAft>
                <a:spcPts val="200"/>
              </a:spcAft>
            </a:pPr>
            <a:r>
              <a:rPr sz="1300">
                <a:solidFill>
                  <a:srgbClr val="333333"/>
                </a:solidFill>
                <a:latin typeface="Calibri"/>
              </a:rPr>
              <a:t>Toggle to the detail table for patient-level drill-down</a:t>
            </a:r>
          </a:p>
          <a:p>
            <a:pPr>
              <a:spcBef>
                <a:spcPts val="400"/>
              </a:spcBef>
              <a:spcAft>
                <a:spcPts val="200"/>
              </a:spcAft>
            </a:pPr>
            <a:r>
              <a:rPr b="1" sz="1300">
                <a:solidFill>
                  <a:srgbClr val="333333"/>
                </a:solidFill>
                <a:latin typeface="Calibri"/>
              </a:rPr>
              <a:t>Repeat for Patient Leakage</a:t>
            </a:r>
            <a:r>
              <a:rPr sz="1300">
                <a:solidFill>
                  <a:srgbClr val="333333"/>
                </a:solidFill>
                <a:latin typeface="Calibri"/>
              </a:rPr>
              <a:t> — Show lost revenue by specialty treemap, high-value leak count</a:t>
            </a:r>
          </a:p>
          <a:p>
            <a:pPr>
              <a:spcBef>
                <a:spcPts val="400"/>
              </a:spcBef>
              <a:spcAft>
                <a:spcPts val="200"/>
              </a:spcAft>
            </a:pPr>
            <a:r>
              <a:rPr b="1" sz="1300">
                <a:solidFill>
                  <a:srgbClr val="333333"/>
                </a:solidFill>
                <a:latin typeface="Calibri"/>
              </a:rPr>
              <a:t>Show OR Capacity</a:t>
            </a:r>
            <a:r>
              <a:rPr sz="1300">
                <a:solidFill>
                  <a:srgbClr val="333333"/>
                </a:solidFill>
                <a:latin typeface="Calibri"/>
              </a:rPr>
              <a:t> — Block utilization heatmap (blocks x day of week), surgeon case volume</a:t>
            </a:r>
          </a:p>
          <a:p>
            <a:pPr>
              <a:spcBef>
                <a:spcPts val="400"/>
              </a:spcBef>
              <a:spcAft>
                <a:spcPts val="200"/>
              </a:spcAft>
            </a:pPr>
            <a:r>
              <a:rPr b="1" sz="1300">
                <a:solidFill>
                  <a:srgbClr val="333333"/>
                </a:solidFill>
                <a:latin typeface="Calibri"/>
              </a:rPr>
              <a:t>Show Denials</a:t>
            </a:r>
            <a:r>
              <a:rPr sz="1300">
                <a:solidFill>
                  <a:srgbClr val="333333"/>
                </a:solidFill>
                <a:latin typeface="Calibri"/>
              </a:rPr>
              <a:t> — Stacked area chart of monthly denial trends, appeal outcome rates, anomaly detection overlay</a:t>
            </a:r>
          </a:p>
        </p:txBody>
      </p:sp>
      <p:sp>
        <p:nvSpPr>
          <p:cNvPr id="9" name="TextBox 8"/>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Demo Script: Cortex Analyst (Conversational Analytics)</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Page: Cortex Analyst (pages/6_cortex_analyst.py)</a:t>
            </a:r>
          </a:p>
        </p:txBody>
      </p:sp>
      <p:sp>
        <p:nvSpPr>
          <p:cNvPr id="5" name="TextBox 4"/>
          <p:cNvSpPr txBox="1"/>
          <p:nvPr/>
        </p:nvSpPr>
        <p:spPr>
          <a:xfrm>
            <a:off x="640080" y="1463040"/>
            <a:ext cx="10881360" cy="365760"/>
          </a:xfrm>
          <a:prstGeom prst="rect">
            <a:avLst/>
          </a:prstGeom>
          <a:noFill/>
        </p:spPr>
        <p:txBody>
          <a:bodyPr wrap="square">
            <a:spAutoFit/>
          </a:bodyPr>
          <a:lstStyle/>
          <a:p>
            <a:pPr algn="l">
              <a:defRPr sz="1800" b="1">
                <a:solidFill>
                  <a:srgbClr val="1B2A4A"/>
                </a:solidFill>
                <a:latin typeface="Calibri"/>
              </a:defRPr>
            </a:pPr>
            <a:r>
              <a:t>Setup</a:t>
            </a:r>
          </a:p>
        </p:txBody>
      </p:sp>
      <p:sp>
        <p:nvSpPr>
          <p:cNvPr id="6" name="TextBox 5"/>
          <p:cNvSpPr txBox="1"/>
          <p:nvPr/>
        </p:nvSpPr>
        <p:spPr>
          <a:xfrm>
            <a:off x="640080" y="1874520"/>
            <a:ext cx="10881360" cy="320040"/>
          </a:xfrm>
          <a:prstGeom prst="rect">
            <a:avLst/>
          </a:prstGeom>
          <a:noFill/>
        </p:spPr>
        <p:txBody>
          <a:bodyPr wrap="square">
            <a:spAutoFit/>
          </a:bodyPr>
          <a:lstStyle/>
          <a:p>
            <a:pPr algn="l">
              <a:defRPr sz="1400" b="0">
                <a:solidFill>
                  <a:srgbClr val="333333"/>
                </a:solidFill>
                <a:latin typeface="Calibri"/>
              </a:defRPr>
            </a:pPr>
            <a:r>
              <a:t>Navigate to the Cortex Analyst page from the sidebar or the Executive Summary card.</a:t>
            </a:r>
          </a:p>
        </p:txBody>
      </p:sp>
      <p:sp>
        <p:nvSpPr>
          <p:cNvPr id="7" name="TextBox 6"/>
          <p:cNvSpPr txBox="1"/>
          <p:nvPr/>
        </p:nvSpPr>
        <p:spPr>
          <a:xfrm>
            <a:off x="640080" y="2221992"/>
            <a:ext cx="10881360" cy="365760"/>
          </a:xfrm>
          <a:prstGeom prst="rect">
            <a:avLst/>
          </a:prstGeom>
          <a:noFill/>
        </p:spPr>
        <p:txBody>
          <a:bodyPr wrap="square">
            <a:spAutoFit/>
          </a:bodyPr>
          <a:lstStyle/>
          <a:p>
            <a:pPr algn="l">
              <a:defRPr sz="1800" b="1">
                <a:solidFill>
                  <a:srgbClr val="1B2A4A"/>
                </a:solidFill>
                <a:latin typeface="Calibri"/>
              </a:defRPr>
            </a:pPr>
            <a:r>
              <a:t>Walkthrough (3-4 minutes)</a:t>
            </a:r>
          </a:p>
        </p:txBody>
      </p:sp>
      <p:sp>
        <p:nvSpPr>
          <p:cNvPr id="8" name="TextBox 7"/>
          <p:cNvSpPr txBox="1"/>
          <p:nvPr/>
        </p:nvSpPr>
        <p:spPr>
          <a:xfrm>
            <a:off x="640080" y="2633472"/>
            <a:ext cx="10881360" cy="3675888"/>
          </a:xfrm>
          <a:prstGeom prst="rect">
            <a:avLst/>
          </a:prstGeom>
          <a:noFill/>
        </p:spPr>
        <p:txBody>
          <a:bodyPr wrap="square">
            <a:spAutoFit/>
          </a:bodyPr>
          <a:lstStyle/>
          <a:p>
            <a:pPr>
              <a:spcBef>
                <a:spcPts val="400"/>
              </a:spcBef>
              <a:spcAft>
                <a:spcPts val="200"/>
              </a:spcAft>
            </a:pPr>
            <a:r>
              <a:rPr b="1" sz="1300">
                <a:solidFill>
                  <a:srgbClr val="333333"/>
                </a:solidFill>
                <a:latin typeface="Calibri"/>
              </a:rPr>
              <a:t>Explain the foundation</a:t>
            </a:r>
            <a:r>
              <a:rPr sz="1300">
                <a:solidFill>
                  <a:srgbClr val="333333"/>
                </a:solidFill>
                <a:latin typeface="Calibri"/>
              </a:rPr>
              <a:t>:</a:t>
            </a:r>
          </a:p>
          <a:p>
            <a:pPr lvl="1">
              <a:spcBef>
                <a:spcPts val="400"/>
              </a:spcBef>
              <a:spcAft>
                <a:spcPts val="200"/>
              </a:spcAft>
            </a:pPr>
            <a:r>
              <a:rPr sz="1300">
                <a:solidFill>
                  <a:srgbClr val="333333"/>
                </a:solidFill>
                <a:latin typeface="Calibri"/>
              </a:rPr>
              <a:t>"Behind this chat interface is a Semantic View — a unified data model spanning 6 tables: our 4 use-case marts plus 2 ML prediction tables"</a:t>
            </a:r>
          </a:p>
          <a:p>
            <a:pPr lvl="1">
              <a:spcBef>
                <a:spcPts val="400"/>
              </a:spcBef>
              <a:spcAft>
                <a:spcPts val="200"/>
              </a:spcAft>
            </a:pPr>
            <a:r>
              <a:rPr sz="1300">
                <a:solidFill>
                  <a:srgbClr val="333333"/>
                </a:solidFill>
                <a:latin typeface="Calibri"/>
              </a:rPr>
              <a:t>"It has 18 pre-defined metrics like readmission_rate, leakage_rate, and avg_utilization, plus 12 verified queries that ensure accuracy"</a:t>
            </a:r>
          </a:p>
          <a:p>
            <a:pPr>
              <a:spcBef>
                <a:spcPts val="400"/>
              </a:spcBef>
              <a:spcAft>
                <a:spcPts val="200"/>
              </a:spcAft>
            </a:pPr>
            <a:r>
              <a:rPr b="1" sz="1300">
                <a:solidFill>
                  <a:srgbClr val="333333"/>
                </a:solidFill>
                <a:latin typeface="Calibri"/>
              </a:rPr>
              <a:t>Ask a verified question</a:t>
            </a:r>
            <a:r>
              <a:rPr sz="1300">
                <a:solidFill>
                  <a:srgbClr val="333333"/>
                </a:solidFill>
                <a:latin typeface="Calibri"/>
              </a:rPr>
              <a:t> — Click or type:</a:t>
            </a:r>
          </a:p>
          <a:p>
            <a:pPr lvl="1">
              <a:spcBef>
                <a:spcPts val="400"/>
              </a:spcBef>
              <a:spcAft>
                <a:spcPts val="200"/>
              </a:spcAft>
            </a:pPr>
            <a:r>
              <a:rPr sz="1300">
                <a:solidFill>
                  <a:srgbClr val="333333"/>
                </a:solidFill>
                <a:latin typeface="Calibri"/>
              </a:rPr>
              <a:t>&gt; "What is the readmission rate by facility?"</a:t>
            </a:r>
          </a:p>
          <a:p>
            <a:pPr lvl="1">
              <a:spcBef>
                <a:spcPts val="400"/>
              </a:spcBef>
              <a:spcAft>
                <a:spcPts val="200"/>
              </a:spcAft>
            </a:pPr>
            <a:r>
              <a:rPr sz="1300">
                <a:solidFill>
                  <a:srgbClr val="333333"/>
                </a:solidFill>
                <a:latin typeface="Calibri"/>
              </a:rPr>
              <a:t>Watch the SQL get generated automatically</a:t>
            </a:r>
          </a:p>
          <a:p>
            <a:pPr lvl="1">
              <a:spcBef>
                <a:spcPts val="400"/>
              </a:spcBef>
              <a:spcAft>
                <a:spcPts val="200"/>
              </a:spcAft>
            </a:pPr>
            <a:r>
              <a:rPr sz="1300">
                <a:solidFill>
                  <a:srgbClr val="333333"/>
                </a:solidFill>
                <a:latin typeface="Calibri"/>
              </a:rPr>
              <a:t>Show the results table and chart</a:t>
            </a:r>
          </a:p>
          <a:p>
            <a:pPr lvl="1">
              <a:spcBef>
                <a:spcPts val="400"/>
              </a:spcBef>
              <a:spcAft>
                <a:spcPts val="200"/>
              </a:spcAft>
            </a:pPr>
            <a:r>
              <a:rPr sz="1300">
                <a:solidFill>
                  <a:srgbClr val="333333"/>
                </a:solidFill>
                <a:latin typeface="Calibri"/>
              </a:rPr>
              <a:t>"No SQL knowledge needed. The semantic view ensures the correct joins and aggregations"</a:t>
            </a:r>
          </a:p>
          <a:p>
            <a:pPr>
              <a:spcBef>
                <a:spcPts val="400"/>
              </a:spcBef>
              <a:spcAft>
                <a:spcPts val="200"/>
              </a:spcAft>
            </a:pPr>
            <a:r>
              <a:rPr b="1" sz="1300">
                <a:solidFill>
                  <a:srgbClr val="333333"/>
                </a:solidFill>
                <a:latin typeface="Calibri"/>
              </a:rPr>
              <a:t>Ask a cross-domain question</a:t>
            </a:r>
            <a:r>
              <a:rPr sz="1300">
                <a:solidFill>
                  <a:srgbClr val="333333"/>
                </a:solidFill>
                <a:latin typeface="Calibri"/>
              </a:rPr>
              <a:t>:</a:t>
            </a:r>
          </a:p>
          <a:p>
            <a:pPr lvl="1">
              <a:spcBef>
                <a:spcPts val="400"/>
              </a:spcBef>
              <a:spcAft>
                <a:spcPts val="200"/>
              </a:spcAft>
            </a:pPr>
            <a:r>
              <a:rPr sz="1300">
                <a:solidFill>
                  <a:srgbClr val="333333"/>
                </a:solidFill>
                <a:latin typeface="Calibri"/>
              </a:rPr>
              <a:t>&gt; "Which facilities have both high readmission rates and high denial charges?"</a:t>
            </a:r>
          </a:p>
          <a:p>
            <a:pPr lvl="1">
              <a:spcBef>
                <a:spcPts val="400"/>
              </a:spcBef>
              <a:spcAft>
                <a:spcPts val="200"/>
              </a:spcAft>
            </a:pPr>
            <a:r>
              <a:rPr sz="1300">
                <a:solidFill>
                  <a:srgbClr val="333333"/>
                </a:solidFill>
                <a:latin typeface="Calibri"/>
              </a:rPr>
              <a:t>"This query spans two different marts — the semantic view's relationships handle the join automatically"</a:t>
            </a:r>
          </a:p>
          <a:p>
            <a:pPr>
              <a:spcBef>
                <a:spcPts val="400"/>
              </a:spcBef>
              <a:spcAft>
                <a:spcPts val="200"/>
              </a:spcAft>
            </a:pPr>
            <a:r>
              <a:rPr b="1" sz="1300">
                <a:solidFill>
                  <a:srgbClr val="333333"/>
                </a:solidFill>
                <a:latin typeface="Calibri"/>
              </a:rPr>
              <a:t>Ask about ML predictions</a:t>
            </a:r>
            <a:r>
              <a:rPr sz="1300">
                <a:solidFill>
                  <a:srgbClr val="333333"/>
                </a:solidFill>
                <a:latin typeface="Calibri"/>
              </a:rPr>
              <a:t>:</a:t>
            </a:r>
          </a:p>
          <a:p>
            <a:pPr lvl="1">
              <a:spcBef>
                <a:spcPts val="400"/>
              </a:spcBef>
              <a:spcAft>
                <a:spcPts val="200"/>
              </a:spcAft>
            </a:pPr>
            <a:r>
              <a:rPr sz="1300">
                <a:solidFill>
                  <a:srgbClr val="333333"/>
                </a:solidFill>
                <a:latin typeface="Calibri"/>
              </a:rPr>
              <a:t>&gt; "Show me the encounter volume forecast for the next 90 days"</a:t>
            </a:r>
          </a:p>
          <a:p>
            <a:pPr lvl="1">
              <a:spcBef>
                <a:spcPts val="400"/>
              </a:spcBef>
              <a:spcAft>
                <a:spcPts val="200"/>
              </a:spcAft>
            </a:pPr>
            <a:r>
              <a:rPr sz="1300">
                <a:solidFill>
                  <a:srgbClr val="333333"/>
                </a:solidFill>
                <a:latin typeface="Calibri"/>
              </a:rPr>
              <a:t>"The semantic view also exposes our ML prediction tables — users can query forecasts and anomalies in natural language"</a:t>
            </a:r>
          </a:p>
          <a:p>
            <a:pPr>
              <a:spcBef>
                <a:spcPts val="400"/>
              </a:spcBef>
              <a:spcAft>
                <a:spcPts val="200"/>
              </a:spcAft>
            </a:pPr>
            <a:r>
              <a:rPr b="1" sz="1300">
                <a:solidFill>
                  <a:srgbClr val="333333"/>
                </a:solidFill>
                <a:latin typeface="Calibri"/>
              </a:rPr>
              <a:t>Ask a trending question</a:t>
            </a:r>
            <a:r>
              <a:rPr sz="1300">
                <a:solidFill>
                  <a:srgbClr val="333333"/>
                </a:solidFill>
                <a:latin typeface="Calibri"/>
              </a:rPr>
              <a:t>:</a:t>
            </a:r>
          </a:p>
          <a:p>
            <a:pPr lvl="1">
              <a:spcBef>
                <a:spcPts val="400"/>
              </a:spcBef>
              <a:spcAft>
                <a:spcPts val="200"/>
              </a:spcAft>
            </a:pPr>
            <a:r>
              <a:rPr sz="1300">
                <a:solidFill>
                  <a:srgbClr val="333333"/>
                </a:solidFill>
                <a:latin typeface="Calibri"/>
              </a:rPr>
              <a:t>&gt; "What is the monthly leakage rate trend by specialty?"</a:t>
            </a:r>
          </a:p>
          <a:p>
            <a:pPr lvl="1">
              <a:spcBef>
                <a:spcPts val="400"/>
              </a:spcBef>
              <a:spcAft>
                <a:spcPts val="200"/>
              </a:spcAft>
            </a:pPr>
            <a:r>
              <a:rPr sz="1300">
                <a:solidFill>
                  <a:srgbClr val="333333"/>
                </a:solidFill>
                <a:latin typeface="Calibri"/>
              </a:rPr>
              <a:t>Show the generated Plotly chart</a:t>
            </a:r>
          </a:p>
          <a:p>
            <a:pPr>
              <a:spcBef>
                <a:spcPts val="400"/>
              </a:spcBef>
              <a:spcAft>
                <a:spcPts val="200"/>
              </a:spcAft>
            </a:pPr>
            <a:r>
              <a:rPr b="1" sz="1300">
                <a:solidFill>
                  <a:srgbClr val="333333"/>
                </a:solidFill>
                <a:latin typeface="Calibri"/>
              </a:rPr>
              <a:t>Key talking point</a:t>
            </a:r>
            <a:r>
              <a:rPr sz="1300">
                <a:solidFill>
                  <a:srgbClr val="333333"/>
                </a:solidFill>
                <a:latin typeface="Calibri"/>
              </a:rPr>
              <a:t>: "Every query respects the same role-based governance. An H360_EXEC user asking about patients would see masked names and DOBs — the masking policies apply to the Cortex Analyst queries just like direct SQL."</a:t>
            </a:r>
          </a:p>
        </p:txBody>
      </p:sp>
      <p:sp>
        <p:nvSpPr>
          <p:cNvPr id="9" name="TextBox 8"/>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Demo Script: Cortex Agent (Agentic Analytics)</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Page: Cortex Agent (pages/7_cortex_agent.py)</a:t>
            </a:r>
          </a:p>
        </p:txBody>
      </p:sp>
      <p:sp>
        <p:nvSpPr>
          <p:cNvPr id="5" name="TextBox 4"/>
          <p:cNvSpPr txBox="1"/>
          <p:nvPr/>
        </p:nvSpPr>
        <p:spPr>
          <a:xfrm>
            <a:off x="640080" y="1463040"/>
            <a:ext cx="10881360" cy="365760"/>
          </a:xfrm>
          <a:prstGeom prst="rect">
            <a:avLst/>
          </a:prstGeom>
          <a:noFill/>
        </p:spPr>
        <p:txBody>
          <a:bodyPr wrap="square">
            <a:spAutoFit/>
          </a:bodyPr>
          <a:lstStyle/>
          <a:p>
            <a:pPr algn="l">
              <a:defRPr sz="1800" b="1">
                <a:solidFill>
                  <a:srgbClr val="1B2A4A"/>
                </a:solidFill>
                <a:latin typeface="Calibri"/>
              </a:defRPr>
            </a:pPr>
            <a:r>
              <a:t>Setup</a:t>
            </a:r>
          </a:p>
        </p:txBody>
      </p:sp>
      <p:sp>
        <p:nvSpPr>
          <p:cNvPr id="6" name="TextBox 5"/>
          <p:cNvSpPr txBox="1"/>
          <p:nvPr/>
        </p:nvSpPr>
        <p:spPr>
          <a:xfrm>
            <a:off x="640080" y="1874520"/>
            <a:ext cx="10881360" cy="320040"/>
          </a:xfrm>
          <a:prstGeom prst="rect">
            <a:avLst/>
          </a:prstGeom>
          <a:noFill/>
        </p:spPr>
        <p:txBody>
          <a:bodyPr wrap="square">
            <a:spAutoFit/>
          </a:bodyPr>
          <a:lstStyle/>
          <a:p>
            <a:pPr algn="l">
              <a:defRPr sz="1400" b="0">
                <a:solidFill>
                  <a:srgbClr val="333333"/>
                </a:solidFill>
                <a:latin typeface="Calibri"/>
              </a:defRPr>
            </a:pPr>
            <a:r>
              <a:t>Navigate to the Cortex Agent page. Note: This page runs on container runtime (compute pool) — required for Agent API calls.</a:t>
            </a:r>
          </a:p>
        </p:txBody>
      </p:sp>
      <p:sp>
        <p:nvSpPr>
          <p:cNvPr id="7" name="TextBox 6"/>
          <p:cNvSpPr txBox="1"/>
          <p:nvPr/>
        </p:nvSpPr>
        <p:spPr>
          <a:xfrm>
            <a:off x="640080" y="2221992"/>
            <a:ext cx="10881360" cy="365760"/>
          </a:xfrm>
          <a:prstGeom prst="rect">
            <a:avLst/>
          </a:prstGeom>
          <a:noFill/>
        </p:spPr>
        <p:txBody>
          <a:bodyPr wrap="square">
            <a:spAutoFit/>
          </a:bodyPr>
          <a:lstStyle/>
          <a:p>
            <a:pPr algn="l">
              <a:defRPr sz="1800" b="1">
                <a:solidFill>
                  <a:srgbClr val="1B2A4A"/>
                </a:solidFill>
                <a:latin typeface="Calibri"/>
              </a:defRPr>
            </a:pPr>
            <a:r>
              <a:t>Walkthrough (3-4 minutes)</a:t>
            </a:r>
          </a:p>
        </p:txBody>
      </p:sp>
      <p:sp>
        <p:nvSpPr>
          <p:cNvPr id="8" name="TextBox 7"/>
          <p:cNvSpPr txBox="1"/>
          <p:nvPr/>
        </p:nvSpPr>
        <p:spPr>
          <a:xfrm>
            <a:off x="640080" y="2633472"/>
            <a:ext cx="10881360" cy="3675888"/>
          </a:xfrm>
          <a:prstGeom prst="rect">
            <a:avLst/>
          </a:prstGeom>
          <a:noFill/>
        </p:spPr>
        <p:txBody>
          <a:bodyPr wrap="square">
            <a:spAutoFit/>
          </a:bodyPr>
          <a:lstStyle/>
          <a:p>
            <a:pPr>
              <a:spcBef>
                <a:spcPts val="400"/>
              </a:spcBef>
              <a:spcAft>
                <a:spcPts val="200"/>
              </a:spcAft>
            </a:pPr>
            <a:r>
              <a:rPr b="1" sz="1300">
                <a:solidFill>
                  <a:srgbClr val="333333"/>
                </a:solidFill>
                <a:latin typeface="Calibri"/>
              </a:rPr>
              <a:t>Explain the difference from Cortex Analyst</a:t>
            </a:r>
            <a:r>
              <a:rPr sz="1300">
                <a:solidFill>
                  <a:srgbClr val="333333"/>
                </a:solidFill>
                <a:latin typeface="Calibri"/>
              </a:rPr>
              <a:t>:</a:t>
            </a:r>
          </a:p>
          <a:p>
            <a:pPr lvl="1">
              <a:spcBef>
                <a:spcPts val="400"/>
              </a:spcBef>
              <a:spcAft>
                <a:spcPts val="200"/>
              </a:spcAft>
            </a:pPr>
            <a:r>
              <a:rPr sz="1300">
                <a:solidFill>
                  <a:srgbClr val="333333"/>
                </a:solidFill>
                <a:latin typeface="Calibri"/>
              </a:rPr>
              <a:t>"Cortex Analyst generates one SQL query per question. The Agent is different — it can plan multi-step analyses, run multiple queries, and synthesize findings into a narrative answer."</a:t>
            </a:r>
          </a:p>
          <a:p>
            <a:pPr lvl="1">
              <a:spcBef>
                <a:spcPts val="400"/>
              </a:spcBef>
              <a:spcAft>
                <a:spcPts val="200"/>
              </a:spcAft>
            </a:pPr>
            <a:r>
              <a:rPr sz="1300">
                <a:solidFill>
                  <a:srgbClr val="333333"/>
                </a:solidFill>
                <a:latin typeface="Calibri"/>
              </a:rPr>
              <a:t>"The Agent uses the same semantic view but adds orchestration: it breaks complex questions into sub-tasks."</a:t>
            </a:r>
          </a:p>
          <a:p>
            <a:pPr>
              <a:spcBef>
                <a:spcPts val="400"/>
              </a:spcBef>
              <a:spcAft>
                <a:spcPts val="200"/>
              </a:spcAft>
            </a:pPr>
            <a:r>
              <a:rPr b="1" sz="1300">
                <a:solidFill>
                  <a:srgbClr val="333333"/>
                </a:solidFill>
                <a:latin typeface="Calibri"/>
              </a:rPr>
              <a:t>Ask a simple question</a:t>
            </a:r>
            <a:r>
              <a:rPr sz="1300">
                <a:solidFill>
                  <a:srgbClr val="333333"/>
                </a:solidFill>
                <a:latin typeface="Calibri"/>
              </a:rPr>
              <a:t> first:</a:t>
            </a:r>
          </a:p>
          <a:p>
            <a:pPr lvl="1">
              <a:spcBef>
                <a:spcPts val="400"/>
              </a:spcBef>
              <a:spcAft>
                <a:spcPts val="200"/>
              </a:spcAft>
            </a:pPr>
            <a:r>
              <a:rPr sz="1300">
                <a:solidFill>
                  <a:srgbClr val="333333"/>
                </a:solidFill>
                <a:latin typeface="Calibri"/>
              </a:rPr>
              <a:t>&gt; "What is the 30-day readmission rate by facility?"</a:t>
            </a:r>
          </a:p>
          <a:p>
            <a:pPr lvl="1">
              <a:spcBef>
                <a:spcPts val="400"/>
              </a:spcBef>
              <a:spcAft>
                <a:spcPts val="200"/>
              </a:spcAft>
            </a:pPr>
            <a:r>
              <a:rPr sz="1300">
                <a:solidFill>
                  <a:srgbClr val="333333"/>
                </a:solidFill>
                <a:latin typeface="Calibri"/>
              </a:rPr>
              <a:t>Show the Agent's reasoning: it selects the Hospital360Analyst tool, generates SQL, executes it, and formats the answer</a:t>
            </a:r>
          </a:p>
          <a:p>
            <a:pPr lvl="1">
              <a:spcBef>
                <a:spcPts val="400"/>
              </a:spcBef>
              <a:spcAft>
                <a:spcPts val="200"/>
              </a:spcAft>
            </a:pPr>
            <a:r>
              <a:rPr sz="1300">
                <a:solidFill>
                  <a:srgbClr val="333333"/>
                </a:solidFill>
                <a:latin typeface="Calibri"/>
              </a:rPr>
              <a:t>"Notice it auto-executed the SQL and returned formatted results — you didn't have to click 'run'"</a:t>
            </a:r>
          </a:p>
          <a:p>
            <a:pPr>
              <a:spcBef>
                <a:spcPts val="400"/>
              </a:spcBef>
              <a:spcAft>
                <a:spcPts val="200"/>
              </a:spcAft>
            </a:pPr>
            <a:r>
              <a:rPr b="1" sz="1300">
                <a:solidFill>
                  <a:srgbClr val="333333"/>
                </a:solidFill>
                <a:latin typeface="Calibri"/>
              </a:rPr>
              <a:t>Ask a complex, multi-part question</a:t>
            </a:r>
            <a:r>
              <a:rPr sz="1300">
                <a:solidFill>
                  <a:srgbClr val="333333"/>
                </a:solidFill>
                <a:latin typeface="Calibri"/>
              </a:rPr>
              <a:t>:</a:t>
            </a:r>
          </a:p>
          <a:p>
            <a:pPr lvl="1">
              <a:spcBef>
                <a:spcPts val="400"/>
              </a:spcBef>
              <a:spcAft>
                <a:spcPts val="200"/>
              </a:spcAft>
            </a:pPr>
            <a:r>
              <a:rPr sz="1300">
                <a:solidFill>
                  <a:srgbClr val="333333"/>
                </a:solidFill>
                <a:latin typeface="Calibri"/>
              </a:rPr>
              <a:t>&gt; "Compare readmission rates and average LOS across all five facilities, and tell me which facility should be investigated first"</a:t>
            </a:r>
          </a:p>
          <a:p>
            <a:pPr lvl="1">
              <a:spcBef>
                <a:spcPts val="400"/>
              </a:spcBef>
              <a:spcAft>
                <a:spcPts val="200"/>
              </a:spcAft>
            </a:pPr>
            <a:r>
              <a:rPr sz="1300">
                <a:solidFill>
                  <a:srgbClr val="333333"/>
                </a:solidFill>
                <a:latin typeface="Calibri"/>
              </a:rPr>
              <a:t>Watch the Agent break this into steps: query readmission rates, query LOS, synthesize a recommendation</a:t>
            </a:r>
          </a:p>
          <a:p>
            <a:pPr lvl="1">
              <a:spcBef>
                <a:spcPts val="400"/>
              </a:spcBef>
              <a:spcAft>
                <a:spcPts val="200"/>
              </a:spcAft>
            </a:pPr>
            <a:r>
              <a:rPr sz="1300">
                <a:solidFill>
                  <a:srgbClr val="333333"/>
                </a:solidFill>
                <a:latin typeface="Calibri"/>
              </a:rPr>
              <a:t>"The Agent is doing what a data analyst would do — running multiple queries and connecting the dots"</a:t>
            </a:r>
          </a:p>
          <a:p>
            <a:pPr>
              <a:spcBef>
                <a:spcPts val="400"/>
              </a:spcBef>
              <a:spcAft>
                <a:spcPts val="200"/>
              </a:spcAft>
            </a:pPr>
            <a:r>
              <a:rPr b="1" sz="1300">
                <a:solidFill>
                  <a:srgbClr val="333333"/>
                </a:solidFill>
                <a:latin typeface="Calibri"/>
              </a:rPr>
              <a:t>Ask a follow-up</a:t>
            </a:r>
            <a:r>
              <a:rPr sz="1300">
                <a:solidFill>
                  <a:srgbClr val="333333"/>
                </a:solidFill>
                <a:latin typeface="Calibri"/>
              </a:rPr>
              <a:t>:</a:t>
            </a:r>
          </a:p>
          <a:p>
            <a:pPr lvl="1">
              <a:spcBef>
                <a:spcPts val="400"/>
              </a:spcBef>
              <a:spcAft>
                <a:spcPts val="200"/>
              </a:spcAft>
            </a:pPr>
            <a:r>
              <a:rPr sz="1300">
                <a:solidFill>
                  <a:srgbClr val="333333"/>
                </a:solidFill>
                <a:latin typeface="Calibri"/>
              </a:rPr>
              <a:t>&gt; "For that facility, what are the top denial categories?"</a:t>
            </a:r>
          </a:p>
          <a:p>
            <a:pPr lvl="1">
              <a:spcBef>
                <a:spcPts val="400"/>
              </a:spcBef>
              <a:spcAft>
                <a:spcPts val="200"/>
              </a:spcAft>
            </a:pPr>
            <a:r>
              <a:rPr sz="1300">
                <a:solidFill>
                  <a:srgbClr val="333333"/>
                </a:solidFill>
                <a:latin typeface="Calibri"/>
              </a:rPr>
              <a:t>"The Agent maintains conversation context — it knows which facility we were discussing"</a:t>
            </a:r>
          </a:p>
          <a:p>
            <a:pPr>
              <a:spcBef>
                <a:spcPts val="400"/>
              </a:spcBef>
              <a:spcAft>
                <a:spcPts val="200"/>
              </a:spcAft>
            </a:pPr>
            <a:r>
              <a:rPr b="1" sz="1300">
                <a:solidFill>
                  <a:srgbClr val="333333"/>
                </a:solidFill>
                <a:latin typeface="Calibri"/>
              </a:rPr>
              <a:t>Ask an anomaly question</a:t>
            </a:r>
            <a:r>
              <a:rPr sz="1300">
                <a:solidFill>
                  <a:srgbClr val="333333"/>
                </a:solidFill>
                <a:latin typeface="Calibri"/>
              </a:rPr>
              <a:t>:</a:t>
            </a:r>
          </a:p>
          <a:p>
            <a:pPr lvl="1">
              <a:spcBef>
                <a:spcPts val="400"/>
              </a:spcBef>
              <a:spcAft>
                <a:spcPts val="200"/>
              </a:spcAft>
            </a:pPr>
            <a:r>
              <a:rPr sz="1300">
                <a:solidFill>
                  <a:srgbClr val="333333"/>
                </a:solidFill>
                <a:latin typeface="Calibri"/>
              </a:rPr>
              <a:t>&gt; "Are there any anomalies in recent denial patterns? If so, which categories are affected?"</a:t>
            </a:r>
          </a:p>
          <a:p>
            <a:pPr lvl="1">
              <a:spcBef>
                <a:spcPts val="400"/>
              </a:spcBef>
              <a:spcAft>
                <a:spcPts val="200"/>
              </a:spcAft>
            </a:pPr>
            <a:r>
              <a:rPr sz="1300">
                <a:solidFill>
                  <a:srgbClr val="333333"/>
                </a:solidFill>
                <a:latin typeface="Calibri"/>
              </a:rPr>
              <a:t>The Agent queries the ML anomaly detection predictions and interprets the results</a:t>
            </a:r>
          </a:p>
          <a:p>
            <a:pPr>
              <a:spcBef>
                <a:spcPts val="400"/>
              </a:spcBef>
              <a:spcAft>
                <a:spcPts val="200"/>
              </a:spcAft>
            </a:pPr>
            <a:r>
              <a:rPr b="1" sz="1300">
                <a:solidFill>
                  <a:srgbClr val="333333"/>
                </a:solidFill>
                <a:latin typeface="Calibri"/>
              </a:rPr>
              <a:t>Key talking points</a:t>
            </a:r>
            <a:r>
              <a:rPr sz="1300">
                <a:solidFill>
                  <a:srgbClr val="333333"/>
                </a:solidFill>
                <a:latin typeface="Calibri"/>
              </a:rPr>
              <a:t>:</a:t>
            </a:r>
          </a:p>
          <a:p>
            <a:pPr lvl="1">
              <a:spcBef>
                <a:spcPts val="400"/>
              </a:spcBef>
              <a:spcAft>
                <a:spcPts val="200"/>
              </a:spcAft>
            </a:pPr>
            <a:r>
              <a:rPr sz="1300">
                <a:solidFill>
                  <a:srgbClr val="333333"/>
                </a:solidFill>
                <a:latin typeface="Calibri"/>
              </a:rPr>
              <a:t>"The Agent runs with a 60-second budget and 16K token limit — it's designed for fast, focused analysis"</a:t>
            </a:r>
          </a:p>
          <a:p>
            <a:pPr lvl="1">
              <a:spcBef>
                <a:spcPts val="400"/>
              </a:spcBef>
              <a:spcAft>
                <a:spcPts val="200"/>
              </a:spcAft>
            </a:pPr>
            <a:r>
              <a:rPr sz="1300">
                <a:solidFill>
                  <a:srgbClr val="333333"/>
                </a:solidFill>
                <a:latin typeface="Calibri"/>
              </a:rPr>
              <a:t>"This is a Snowflake-native agent object — no external LLM deployment, no API keys to manage"</a:t>
            </a:r>
          </a:p>
          <a:p>
            <a:pPr lvl="1">
              <a:spcBef>
                <a:spcPts val="400"/>
              </a:spcBef>
              <a:spcAft>
                <a:spcPts val="200"/>
              </a:spcAft>
            </a:pPr>
            <a:r>
              <a:rPr sz="1300">
                <a:solidFill>
                  <a:srgbClr val="333333"/>
                </a:solidFill>
                <a:latin typeface="Calibri"/>
              </a:rPr>
              <a:t>"Accessible via Snowsight's native agent UI AND this Streamlit page"</a:t>
            </a:r>
          </a:p>
        </p:txBody>
      </p:sp>
      <p:sp>
        <p:nvSpPr>
          <p:cNvPr id="9" name="TextBox 8"/>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Demo Script: Governance &amp; Security</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Demonstrated via SQL and Snowsight</a:t>
            </a:r>
          </a:p>
        </p:txBody>
      </p:sp>
      <p:sp>
        <p:nvSpPr>
          <p:cNvPr id="5" name="TextBox 4"/>
          <p:cNvSpPr txBox="1"/>
          <p:nvPr/>
        </p:nvSpPr>
        <p:spPr>
          <a:xfrm>
            <a:off x="640080" y="1463040"/>
            <a:ext cx="10881360" cy="365760"/>
          </a:xfrm>
          <a:prstGeom prst="rect">
            <a:avLst/>
          </a:prstGeom>
          <a:noFill/>
        </p:spPr>
        <p:txBody>
          <a:bodyPr wrap="square">
            <a:spAutoFit/>
          </a:bodyPr>
          <a:lstStyle/>
          <a:p>
            <a:pPr algn="l">
              <a:defRPr sz="1800" b="1">
                <a:solidFill>
                  <a:srgbClr val="1B2A4A"/>
                </a:solidFill>
                <a:latin typeface="Calibri"/>
              </a:defRPr>
            </a:pPr>
            <a:r>
              <a:t>Setup</a:t>
            </a:r>
          </a:p>
        </p:txBody>
      </p:sp>
      <p:sp>
        <p:nvSpPr>
          <p:cNvPr id="6" name="TextBox 5"/>
          <p:cNvSpPr txBox="1"/>
          <p:nvPr/>
        </p:nvSpPr>
        <p:spPr>
          <a:xfrm>
            <a:off x="640080" y="1874520"/>
            <a:ext cx="10881360" cy="320040"/>
          </a:xfrm>
          <a:prstGeom prst="rect">
            <a:avLst/>
          </a:prstGeom>
          <a:noFill/>
        </p:spPr>
        <p:txBody>
          <a:bodyPr wrap="square">
            <a:spAutoFit/>
          </a:bodyPr>
          <a:lstStyle/>
          <a:p>
            <a:pPr algn="l">
              <a:defRPr sz="1400" b="0">
                <a:solidFill>
                  <a:srgbClr val="333333"/>
                </a:solidFill>
                <a:latin typeface="Calibri"/>
              </a:defRPr>
            </a:pPr>
            <a:r>
              <a:t>Open a Snowflake worksheet (or use the Streamlit app to narrate while showing worksheet queries).</a:t>
            </a:r>
          </a:p>
        </p:txBody>
      </p:sp>
      <p:sp>
        <p:nvSpPr>
          <p:cNvPr id="7" name="TextBox 6"/>
          <p:cNvSpPr txBox="1"/>
          <p:nvPr/>
        </p:nvSpPr>
        <p:spPr>
          <a:xfrm>
            <a:off x="640080" y="2221992"/>
            <a:ext cx="10881360" cy="365760"/>
          </a:xfrm>
          <a:prstGeom prst="rect">
            <a:avLst/>
          </a:prstGeom>
          <a:noFill/>
        </p:spPr>
        <p:txBody>
          <a:bodyPr wrap="square">
            <a:spAutoFit/>
          </a:bodyPr>
          <a:lstStyle/>
          <a:p>
            <a:pPr algn="l">
              <a:defRPr sz="1800" b="1">
                <a:solidFill>
                  <a:srgbClr val="1B2A4A"/>
                </a:solidFill>
                <a:latin typeface="Calibri"/>
              </a:defRPr>
            </a:pPr>
            <a:r>
              <a:t>Walkthrough (3-4 minutes)</a:t>
            </a:r>
          </a:p>
        </p:txBody>
      </p:sp>
      <p:sp>
        <p:nvSpPr>
          <p:cNvPr id="8" name="TextBox 7"/>
          <p:cNvSpPr txBox="1"/>
          <p:nvPr/>
        </p:nvSpPr>
        <p:spPr>
          <a:xfrm>
            <a:off x="640080" y="2633472"/>
            <a:ext cx="10881360" cy="3675888"/>
          </a:xfrm>
          <a:prstGeom prst="rect">
            <a:avLst/>
          </a:prstGeom>
          <a:noFill/>
        </p:spPr>
        <p:txBody>
          <a:bodyPr wrap="square">
            <a:spAutoFit/>
          </a:bodyPr>
          <a:lstStyle/>
          <a:p>
            <a:pPr>
              <a:spcBef>
                <a:spcPts val="400"/>
              </a:spcBef>
              <a:spcAft>
                <a:spcPts val="200"/>
              </a:spcAft>
            </a:pPr>
            <a:r>
              <a:rPr b="1" sz="1300">
                <a:solidFill>
                  <a:srgbClr val="333333"/>
                </a:solidFill>
                <a:latin typeface="Calibri"/>
              </a:rPr>
              <a:t>Show the role hierarchy</a:t>
            </a:r>
            <a:r>
              <a:rPr sz="1300">
                <a:solidFill>
                  <a:srgbClr val="333333"/>
                </a:solidFill>
                <a:latin typeface="Calibri"/>
              </a:rPr>
              <a:t>:</a:t>
            </a:r>
          </a:p>
          <a:p>
            <a:pPr lvl="1">
              <a:spcBef>
                <a:spcPts val="400"/>
              </a:spcBef>
              <a:spcAft>
                <a:spcPts val="200"/>
              </a:spcAft>
            </a:pPr>
            <a:r>
              <a:rPr sz="1300">
                <a:solidFill>
                  <a:srgbClr val="333333"/>
                </a:solidFill>
                <a:latin typeface="Consolas"/>
              </a:rPr>
              <a:t>`</a:t>
            </a:r>
          </a:p>
          <a:p>
            <a:pPr lvl="1">
              <a:spcBef>
                <a:spcPts val="400"/>
              </a:spcBef>
              <a:spcAft>
                <a:spcPts val="200"/>
              </a:spcAft>
            </a:pPr>
            <a:r>
              <a:rPr sz="1300">
                <a:solidFill>
                  <a:srgbClr val="333333"/>
                </a:solidFill>
                <a:latin typeface="Calibri"/>
              </a:rPr>
              <a:t>SYSADMIN</a:t>
            </a:r>
          </a:p>
          <a:p>
            <a:pPr lvl="1">
              <a:spcBef>
                <a:spcPts val="400"/>
              </a:spcBef>
              <a:spcAft>
                <a:spcPts val="200"/>
              </a:spcAft>
            </a:pPr>
            <a:r>
              <a:rPr sz="1300">
                <a:solidFill>
                  <a:srgbClr val="333333"/>
                </a:solidFill>
                <a:latin typeface="Calibri"/>
              </a:rPr>
              <a:t>└── H360_ADMIN</a:t>
            </a:r>
          </a:p>
          <a:p>
            <a:pPr lvl="1">
              <a:spcBef>
                <a:spcPts val="400"/>
              </a:spcBef>
              <a:spcAft>
                <a:spcPts val="200"/>
              </a:spcAft>
            </a:pPr>
            <a:r>
              <a:rPr sz="1300">
                <a:solidFill>
                  <a:srgbClr val="333333"/>
                </a:solidFill>
                <a:latin typeface="Calibri"/>
              </a:rPr>
              <a:t>├── H360_ENGINEER   (full access, last-4 SSN)</a:t>
            </a:r>
          </a:p>
          <a:p>
            <a:pPr lvl="1">
              <a:spcBef>
                <a:spcPts val="400"/>
              </a:spcBef>
              <a:spcAft>
                <a:spcPts val="200"/>
              </a:spcAft>
            </a:pPr>
            <a:r>
              <a:rPr sz="1300">
                <a:solidFill>
                  <a:srgbClr val="333333"/>
                </a:solidFill>
                <a:latin typeface="Calibri"/>
              </a:rPr>
              <a:t>├── H360_ANALYST    (CUR read-only, masked PHI)</a:t>
            </a:r>
          </a:p>
          <a:p>
            <a:pPr lvl="1">
              <a:spcBef>
                <a:spcPts val="400"/>
              </a:spcBef>
              <a:spcAft>
                <a:spcPts val="200"/>
              </a:spcAft>
            </a:pPr>
            <a:r>
              <a:rPr sz="1300">
                <a:solidFill>
                  <a:srgbClr val="333333"/>
                </a:solidFill>
                <a:latin typeface="Calibri"/>
              </a:rPr>
              <a:t>├── H360_CLINICIAN  (CUR read-only, UNMASKED PHI)</a:t>
            </a:r>
          </a:p>
          <a:p>
            <a:pPr lvl="1">
              <a:spcBef>
                <a:spcPts val="400"/>
              </a:spcBef>
              <a:spcAft>
                <a:spcPts val="200"/>
              </a:spcAft>
            </a:pPr>
            <a:r>
              <a:rPr sz="1300">
                <a:solidFill>
                  <a:srgbClr val="333333"/>
                </a:solidFill>
                <a:latin typeface="Calibri"/>
              </a:rPr>
              <a:t>├── H360_FINANCE    (financial schemas only)</a:t>
            </a:r>
          </a:p>
          <a:p>
            <a:pPr lvl="1">
              <a:spcBef>
                <a:spcPts val="400"/>
              </a:spcBef>
              <a:spcAft>
                <a:spcPts val="200"/>
              </a:spcAft>
            </a:pPr>
            <a:r>
              <a:rPr sz="1300">
                <a:solidFill>
                  <a:srgbClr val="333333"/>
                </a:solidFill>
                <a:latin typeface="Calibri"/>
              </a:rPr>
              <a:t>└── H360_EXEC       (CUR read-only, FULLY masked PHI)</a:t>
            </a:r>
          </a:p>
          <a:p>
            <a:pPr lvl="1">
              <a:spcBef>
                <a:spcPts val="400"/>
              </a:spcBef>
              <a:spcAft>
                <a:spcPts val="200"/>
              </a:spcAft>
            </a:pPr>
            <a:r>
              <a:rPr sz="1300">
                <a:solidFill>
                  <a:srgbClr val="333333"/>
                </a:solidFill>
                <a:latin typeface="Consolas"/>
              </a:rPr>
              <a:t>`</a:t>
            </a:r>
          </a:p>
          <a:p>
            <a:pPr>
              <a:spcBef>
                <a:spcPts val="400"/>
              </a:spcBef>
              <a:spcAft>
                <a:spcPts val="200"/>
              </a:spcAft>
            </a:pPr>
            <a:r>
              <a:rPr b="1" sz="1300">
                <a:solidFill>
                  <a:srgbClr val="333333"/>
                </a:solidFill>
                <a:latin typeface="Calibri"/>
              </a:rPr>
              <a:t>Demonstrate differential masking</a:t>
            </a:r>
            <a:r>
              <a:rPr sz="1300">
                <a:solidFill>
                  <a:srgbClr val="333333"/>
                </a:solidFill>
                <a:latin typeface="Calibri"/>
              </a:rPr>
              <a:t>:</a:t>
            </a:r>
          </a:p>
          <a:p>
            <a:pPr lvl="1">
              <a:spcBef>
                <a:spcPts val="400"/>
              </a:spcBef>
              <a:spcAft>
                <a:spcPts val="200"/>
              </a:spcAft>
            </a:pPr>
            <a:r>
              <a:rPr sz="1300">
                <a:solidFill>
                  <a:srgbClr val="333333"/>
                </a:solidFill>
                <a:latin typeface="Calibri"/>
              </a:rPr>
              <a:t>```sql</a:t>
            </a:r>
          </a:p>
          <a:p>
            <a:pPr lvl="1">
              <a:spcBef>
                <a:spcPts val="400"/>
              </a:spcBef>
              <a:spcAft>
                <a:spcPts val="200"/>
              </a:spcAft>
            </a:pPr>
            <a:r>
              <a:rPr sz="1300">
                <a:solidFill>
                  <a:srgbClr val="333333"/>
                </a:solidFill>
                <a:latin typeface="Calibri"/>
              </a:rPr>
              <a:t>-- As H360_CLINICIAN (sees real patient data):</a:t>
            </a:r>
          </a:p>
          <a:p>
            <a:pPr lvl="1">
              <a:spcBef>
                <a:spcPts val="400"/>
              </a:spcBef>
              <a:spcAft>
                <a:spcPts val="200"/>
              </a:spcAft>
            </a:pPr>
            <a:r>
              <a:rPr sz="1300">
                <a:solidFill>
                  <a:srgbClr val="333333"/>
                </a:solidFill>
                <a:latin typeface="Calibri"/>
              </a:rPr>
              <a:t>USE ROLE H360_CLINICIAN;</a:t>
            </a:r>
          </a:p>
          <a:p>
            <a:pPr lvl="1">
              <a:spcBef>
                <a:spcPts val="400"/>
              </a:spcBef>
              <a:spcAft>
                <a:spcPts val="200"/>
              </a:spcAft>
            </a:pPr>
            <a:r>
              <a:rPr sz="1300">
                <a:solidFill>
                  <a:srgbClr val="333333"/>
                </a:solidFill>
                <a:latin typeface="Calibri"/>
              </a:rPr>
              <a:t>SELECT MRN, FIRST_NAME, LAST_NAME, DOB, SSN</a:t>
            </a:r>
          </a:p>
          <a:p>
            <a:pPr lvl="1">
              <a:spcBef>
                <a:spcPts val="400"/>
              </a:spcBef>
              <a:spcAft>
                <a:spcPts val="200"/>
              </a:spcAft>
            </a:pPr>
            <a:r>
              <a:rPr sz="1300">
                <a:solidFill>
                  <a:srgbClr val="333333"/>
                </a:solidFill>
                <a:latin typeface="Calibri"/>
              </a:rPr>
              <a:t>FROM HOSPITAL360_CUR.CLINICAL.DIM_PATIENT LIMIT 5;</a:t>
            </a:r>
          </a:p>
          <a:p>
            <a:pPr lvl="1">
              <a:spcBef>
                <a:spcPts val="400"/>
              </a:spcBef>
              <a:spcAft>
                <a:spcPts val="200"/>
              </a:spcAft>
            </a:pPr>
            <a:r>
              <a:rPr sz="1300">
                <a:solidFill>
                  <a:srgbClr val="333333"/>
                </a:solidFill>
                <a:latin typeface="Calibri"/>
              </a:rPr>
              <a:t>-- Shows: MRN-0001, John, Smith, 1985-03-15, XXX-XX-1234</a:t>
            </a:r>
          </a:p>
        </p:txBody>
      </p:sp>
      <p:sp>
        <p:nvSpPr>
          <p:cNvPr id="9" name="TextBox 8"/>
          <p:cNvSpPr txBox="1"/>
          <p:nvPr/>
        </p:nvSpPr>
        <p:spPr>
          <a:xfrm>
            <a:off x="640080" y="7434072"/>
            <a:ext cx="10881360" cy="320040"/>
          </a:xfrm>
          <a:prstGeom prst="rect">
            <a:avLst/>
          </a:prstGeom>
          <a:noFill/>
        </p:spPr>
        <p:txBody>
          <a:bodyPr wrap="square">
            <a:spAutoFit/>
          </a:bodyPr>
          <a:lstStyle/>
          <a:p>
            <a:pPr algn="l">
              <a:defRPr sz="1400" b="0">
                <a:solidFill>
                  <a:srgbClr val="333333"/>
                </a:solidFill>
                <a:latin typeface="Calibri"/>
              </a:defRPr>
            </a:pPr>
            <a:r>
              <a:t>-- As H360_EXEC (sees pseudonymized data):</a:t>
            </a:r>
          </a:p>
        </p:txBody>
      </p:sp>
      <p:sp>
        <p:nvSpPr>
          <p:cNvPr id="10" name="TextBox 9"/>
          <p:cNvSpPr txBox="1"/>
          <p:nvPr/>
        </p:nvSpPr>
        <p:spPr>
          <a:xfrm>
            <a:off x="640080" y="7781544"/>
            <a:ext cx="10881360" cy="320040"/>
          </a:xfrm>
          <a:prstGeom prst="rect">
            <a:avLst/>
          </a:prstGeom>
          <a:noFill/>
        </p:spPr>
        <p:txBody>
          <a:bodyPr wrap="square">
            <a:spAutoFit/>
          </a:bodyPr>
          <a:lstStyle/>
          <a:p>
            <a:pPr algn="l">
              <a:defRPr sz="1400" b="0">
                <a:solidFill>
                  <a:srgbClr val="333333"/>
                </a:solidFill>
                <a:latin typeface="Calibri"/>
              </a:defRPr>
            </a:pPr>
            <a:r>
              <a:t>USE ROLE H360_EXEC;</a:t>
            </a:r>
          </a:p>
        </p:txBody>
      </p:sp>
      <p:sp>
        <p:nvSpPr>
          <p:cNvPr id="11" name="TextBox 10"/>
          <p:cNvSpPr txBox="1"/>
          <p:nvPr/>
        </p:nvSpPr>
        <p:spPr>
          <a:xfrm>
            <a:off x="640080" y="8129016"/>
            <a:ext cx="10881360" cy="320040"/>
          </a:xfrm>
          <a:prstGeom prst="rect">
            <a:avLst/>
          </a:prstGeom>
          <a:noFill/>
        </p:spPr>
        <p:txBody>
          <a:bodyPr wrap="square">
            <a:spAutoFit/>
          </a:bodyPr>
          <a:lstStyle/>
          <a:p>
            <a:pPr algn="l">
              <a:defRPr sz="1400" b="0">
                <a:solidFill>
                  <a:srgbClr val="333333"/>
                </a:solidFill>
                <a:latin typeface="Calibri"/>
              </a:defRPr>
            </a:pPr>
            <a:r>
              <a:t>SELECT MRN, FIRST_NAME, LAST_NAME, DOB, SSN</a:t>
            </a:r>
          </a:p>
        </p:txBody>
      </p:sp>
      <p:sp>
        <p:nvSpPr>
          <p:cNvPr id="12" name="TextBox 11"/>
          <p:cNvSpPr txBox="1"/>
          <p:nvPr/>
        </p:nvSpPr>
        <p:spPr>
          <a:xfrm>
            <a:off x="640080" y="8476488"/>
            <a:ext cx="10881360" cy="320040"/>
          </a:xfrm>
          <a:prstGeom prst="rect">
            <a:avLst/>
          </a:prstGeom>
          <a:noFill/>
        </p:spPr>
        <p:txBody>
          <a:bodyPr wrap="square">
            <a:spAutoFit/>
          </a:bodyPr>
          <a:lstStyle/>
          <a:p>
            <a:pPr algn="l">
              <a:defRPr sz="1400" b="0">
                <a:solidFill>
                  <a:srgbClr val="333333"/>
                </a:solidFill>
                <a:latin typeface="Calibri"/>
              </a:defRPr>
            </a:pPr>
            <a:r>
              <a:t>FROM HOSPITAL360_CUR.CLINICAL.DIM_PATIENT LIMIT 5;</a:t>
            </a:r>
          </a:p>
        </p:txBody>
      </p:sp>
      <p:sp>
        <p:nvSpPr>
          <p:cNvPr id="13" name="TextBox 12"/>
          <p:cNvSpPr txBox="1"/>
          <p:nvPr/>
        </p:nvSpPr>
        <p:spPr>
          <a:xfrm>
            <a:off x="640080" y="8823960"/>
            <a:ext cx="10881360" cy="320040"/>
          </a:xfrm>
          <a:prstGeom prst="rect">
            <a:avLst/>
          </a:prstGeom>
          <a:noFill/>
        </p:spPr>
        <p:txBody>
          <a:bodyPr wrap="square">
            <a:spAutoFit/>
          </a:bodyPr>
          <a:lstStyle/>
          <a:p>
            <a:pPr algn="l">
              <a:defRPr sz="1400" b="0">
                <a:solidFill>
                  <a:srgbClr val="333333"/>
                </a:solidFill>
                <a:latin typeface="Calibri"/>
              </a:defRPr>
            </a:pPr>
            <a:r>
              <a:t>-- Shows: *MRN*, PATIENT_a3f2c8b1, PATIENT_7e9d4c02, 1985-01-01, *--</a:t>
            </a:r>
          </a:p>
        </p:txBody>
      </p:sp>
      <p:sp>
        <p:nvSpPr>
          <p:cNvPr id="14" name="Rectangle 13"/>
          <p:cNvSpPr/>
          <p:nvPr/>
        </p:nvSpPr>
        <p:spPr>
          <a:xfrm>
            <a:off x="640080" y="9171432"/>
            <a:ext cx="10881360" cy="87782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9262872"/>
            <a:ext cx="10607040" cy="694944"/>
          </a:xfrm>
          <a:prstGeom prst="rect">
            <a:avLst/>
          </a:prstGeom>
          <a:noFill/>
        </p:spPr>
        <p:txBody>
          <a:bodyPr wrap="square">
            <a:spAutoFit/>
          </a:bodyPr>
          <a:lstStyle/>
          <a:p>
            <a:pPr>
              <a:spcBef>
                <a:spcPts val="100"/>
              </a:spcBef>
              <a:spcAft>
                <a:spcPts val="100"/>
              </a:spcAft>
              <a:defRPr sz="900">
                <a:solidFill>
                  <a:srgbClr val="333333"/>
                </a:solidFill>
                <a:latin typeface="Consolas"/>
              </a:defRPr>
            </a:pPr>
            <a:r>
              <a:t>- "Same table, same query — different roles see different data. The masking policies are enforced at the Snowflake engine level, not in the application."</a:t>
            </a:r>
          </a:p>
          <a:p>
            <a:pPr>
              <a:spcBef>
                <a:spcPts val="100"/>
              </a:spcBef>
              <a:spcAft>
                <a:spcPts val="100"/>
              </a:spcAft>
              <a:defRPr sz="900">
                <a:solidFill>
                  <a:srgbClr val="333333"/>
                </a:solidFill>
                <a:latin typeface="Consolas"/>
              </a:defRPr>
            </a:pPr>
          </a:p>
          <a:p>
            <a:pPr>
              <a:spcBef>
                <a:spcPts val="100"/>
              </a:spcBef>
              <a:spcAft>
                <a:spcPts val="100"/>
              </a:spcAft>
              <a:defRPr sz="900">
                <a:solidFill>
                  <a:srgbClr val="333333"/>
                </a:solidFill>
                <a:latin typeface="Consolas"/>
              </a:defRPr>
            </a:pPr>
            <a:r>
              <a:t>3. **Show tag-based classification**:</a:t>
            </a:r>
          </a:p>
        </p:txBody>
      </p:sp>
      <p:sp>
        <p:nvSpPr>
          <p:cNvPr id="16" name="TextBox 15"/>
          <p:cNvSpPr txBox="1"/>
          <p:nvPr/>
        </p:nvSpPr>
        <p:spPr>
          <a:xfrm>
            <a:off x="640080" y="10186416"/>
            <a:ext cx="10881360" cy="320040"/>
          </a:xfrm>
          <a:prstGeom prst="rect">
            <a:avLst/>
          </a:prstGeom>
          <a:noFill/>
        </p:spPr>
        <p:txBody>
          <a:bodyPr wrap="square">
            <a:spAutoFit/>
          </a:bodyPr>
          <a:lstStyle/>
          <a:p>
            <a:pPr algn="l">
              <a:defRPr sz="1400" b="0">
                <a:solidFill>
                  <a:srgbClr val="333333"/>
                </a:solidFill>
                <a:latin typeface="Calibri"/>
              </a:defRPr>
            </a:pPr>
            <a:r>
              <a:t>SELECT * FROM TABLE(</a:t>
            </a:r>
          </a:p>
        </p:txBody>
      </p:sp>
      <p:sp>
        <p:nvSpPr>
          <p:cNvPr id="17" name="TextBox 16"/>
          <p:cNvSpPr txBox="1"/>
          <p:nvPr/>
        </p:nvSpPr>
        <p:spPr>
          <a:xfrm>
            <a:off x="640080" y="10533888"/>
            <a:ext cx="10881360" cy="320040"/>
          </a:xfrm>
          <a:prstGeom prst="rect">
            <a:avLst/>
          </a:prstGeom>
          <a:noFill/>
        </p:spPr>
        <p:txBody>
          <a:bodyPr wrap="square">
            <a:spAutoFit/>
          </a:bodyPr>
          <a:lstStyle/>
          <a:p>
            <a:pPr algn="l">
              <a:defRPr sz="1400" b="0">
                <a:solidFill>
                  <a:srgbClr val="333333"/>
                </a:solidFill>
                <a:latin typeface="Calibri"/>
              </a:defRPr>
            </a:pPr>
            <a:r>
              <a:t>HOSPITAL360_CUR.INFORMATION_SCHEMA.TAG_REFERENCES(</a:t>
            </a:r>
          </a:p>
        </p:txBody>
      </p:sp>
      <p:sp>
        <p:nvSpPr>
          <p:cNvPr id="18" name="TextBox 17"/>
          <p:cNvSpPr txBox="1"/>
          <p:nvPr/>
        </p:nvSpPr>
        <p:spPr>
          <a:xfrm>
            <a:off x="640080" y="10881360"/>
            <a:ext cx="10881360" cy="320040"/>
          </a:xfrm>
          <a:prstGeom prst="rect">
            <a:avLst/>
          </a:prstGeom>
          <a:noFill/>
        </p:spPr>
        <p:txBody>
          <a:bodyPr wrap="square">
            <a:spAutoFit/>
          </a:bodyPr>
          <a:lstStyle/>
          <a:p>
            <a:pPr algn="l">
              <a:defRPr sz="1400" b="0">
                <a:solidFill>
                  <a:srgbClr val="333333"/>
                </a:solidFill>
                <a:latin typeface="Calibri"/>
              </a:defRPr>
            </a:pPr>
            <a:r>
              <a:t>'HOSPITAL360_CUR.CLINICAL.DIM_PATIENT.SSN', 'COLUMN'</a:t>
            </a:r>
          </a:p>
        </p:txBody>
      </p:sp>
      <p:sp>
        <p:nvSpPr>
          <p:cNvPr id="19" name="TextBox 18"/>
          <p:cNvSpPr txBox="1"/>
          <p:nvPr/>
        </p:nvSpPr>
        <p:spPr>
          <a:xfrm>
            <a:off x="640080" y="11228832"/>
            <a:ext cx="10881360" cy="320040"/>
          </a:xfrm>
          <a:prstGeom prst="rect">
            <a:avLst/>
          </a:prstGeom>
          <a:noFill/>
        </p:spPr>
        <p:txBody>
          <a:bodyPr wrap="square">
            <a:spAutoFit/>
          </a:bodyPr>
          <a:lstStyle/>
          <a:p>
            <a:pPr algn="l">
              <a:defRPr sz="1400" b="0">
                <a:solidFill>
                  <a:srgbClr val="333333"/>
                </a:solidFill>
                <a:latin typeface="Calibri"/>
              </a:defRPr>
            </a:pPr>
            <a:r>
              <a:t>)</a:t>
            </a:r>
          </a:p>
        </p:txBody>
      </p:sp>
      <p:sp>
        <p:nvSpPr>
          <p:cNvPr id="20" name="TextBox 19"/>
          <p:cNvSpPr txBox="1"/>
          <p:nvPr/>
        </p:nvSpPr>
        <p:spPr>
          <a:xfrm>
            <a:off x="640080" y="11576304"/>
            <a:ext cx="10881360" cy="320040"/>
          </a:xfrm>
          <a:prstGeom prst="rect">
            <a:avLst/>
          </a:prstGeom>
          <a:noFill/>
        </p:spPr>
        <p:txBody>
          <a:bodyPr wrap="square">
            <a:spAutoFit/>
          </a:bodyPr>
          <a:lstStyle/>
          <a:p>
            <a:pPr algn="l">
              <a:defRPr sz="1400" b="0">
                <a:solidFill>
                  <a:srgbClr val="333333"/>
                </a:solidFill>
                <a:latin typeface="Calibri"/>
              </a:defRPr>
            </a:pPr>
            <a:r>
              <a:t>);</a:t>
            </a:r>
          </a:p>
        </p:txBody>
      </p:sp>
      <p:sp>
        <p:nvSpPr>
          <p:cNvPr id="21" name="TextBox 20"/>
          <p:cNvSpPr txBox="1"/>
          <p:nvPr/>
        </p:nvSpPr>
        <p:spPr>
          <a:xfrm>
            <a:off x="640080" y="11923776"/>
            <a:ext cx="10881360" cy="320040"/>
          </a:xfrm>
          <a:prstGeom prst="rect">
            <a:avLst/>
          </a:prstGeom>
          <a:noFill/>
        </p:spPr>
        <p:txBody>
          <a:bodyPr wrap="square">
            <a:spAutoFit/>
          </a:bodyPr>
          <a:lstStyle/>
          <a:p>
            <a:pPr algn="l">
              <a:defRPr sz="1400" b="0">
                <a:solidFill>
                  <a:srgbClr val="333333"/>
                </a:solidFill>
                <a:latin typeface="Calibri"/>
              </a:defRPr>
            </a:pPr>
            <a:r>
              <a:t>-- Shows: DATA_CLASSIFICATION = 'PHI', PII_TYPE = 'SSN'</a:t>
            </a:r>
          </a:p>
        </p:txBody>
      </p:sp>
      <p:sp>
        <p:nvSpPr>
          <p:cNvPr id="22" name="Rectangle 21"/>
          <p:cNvSpPr/>
          <p:nvPr/>
        </p:nvSpPr>
        <p:spPr>
          <a:xfrm>
            <a:off x="640080" y="12271248"/>
            <a:ext cx="10881360" cy="107899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12362688"/>
            <a:ext cx="10607040" cy="896112"/>
          </a:xfrm>
          <a:prstGeom prst="rect">
            <a:avLst/>
          </a:prstGeom>
          <a:noFill/>
        </p:spPr>
        <p:txBody>
          <a:bodyPr wrap="square">
            <a:spAutoFit/>
          </a:bodyPr>
          <a:lstStyle/>
          <a:p>
            <a:pPr>
              <a:spcBef>
                <a:spcPts val="100"/>
              </a:spcBef>
              <a:spcAft>
                <a:spcPts val="100"/>
              </a:spcAft>
              <a:defRPr sz="900">
                <a:solidFill>
                  <a:srgbClr val="333333"/>
                </a:solidFill>
                <a:latin typeface="Consolas"/>
              </a:defRPr>
            </a:pPr>
            <a:r>
              <a:t>- "Every PHI/PII column is tagged. These tags drive automatic policy attachment and audit reporting."</a:t>
            </a:r>
          </a:p>
          <a:p>
            <a:pPr>
              <a:spcBef>
                <a:spcPts val="100"/>
              </a:spcBef>
              <a:spcAft>
                <a:spcPts val="100"/>
              </a:spcAft>
              <a:defRPr sz="900">
                <a:solidFill>
                  <a:srgbClr val="333333"/>
                </a:solidFill>
                <a:latin typeface="Consolas"/>
              </a:defRPr>
            </a:pPr>
          </a:p>
          <a:p>
            <a:pPr>
              <a:spcBef>
                <a:spcPts val="100"/>
              </a:spcBef>
              <a:spcAft>
                <a:spcPts val="100"/>
              </a:spcAft>
              <a:defRPr sz="900">
                <a:solidFill>
                  <a:srgbClr val="333333"/>
                </a:solidFill>
                <a:latin typeface="Consolas"/>
              </a:defRPr>
            </a:pPr>
            <a:r>
              <a:t>4. **Show row-access policies**:</a:t>
            </a:r>
          </a:p>
          <a:p>
            <a:pPr>
              <a:spcBef>
                <a:spcPts val="100"/>
              </a:spcBef>
              <a:spcAft>
                <a:spcPts val="100"/>
              </a:spcAft>
              <a:defRPr sz="900">
                <a:solidFill>
                  <a:srgbClr val="333333"/>
                </a:solidFill>
                <a:latin typeface="Consolas"/>
              </a:defRPr>
            </a:pPr>
            <a:r>
              <a:t>   - "H360_FINANCE can only see 3 of our 5 facilities. H360_ADMIN sees all."</a:t>
            </a:r>
          </a:p>
        </p:txBody>
      </p:sp>
      <p:sp>
        <p:nvSpPr>
          <p:cNvPr id="24" name="TextBox 23"/>
          <p:cNvSpPr txBox="1"/>
          <p:nvPr/>
        </p:nvSpPr>
        <p:spPr>
          <a:xfrm>
            <a:off x="640080" y="13487400"/>
            <a:ext cx="10881360" cy="320040"/>
          </a:xfrm>
          <a:prstGeom prst="rect">
            <a:avLst/>
          </a:prstGeom>
          <a:noFill/>
        </p:spPr>
        <p:txBody>
          <a:bodyPr wrap="square">
            <a:spAutoFit/>
          </a:bodyPr>
          <a:lstStyle/>
          <a:p>
            <a:pPr algn="l">
              <a:defRPr sz="1400" b="0">
                <a:solidFill>
                  <a:srgbClr val="333333"/>
                </a:solidFill>
                <a:latin typeface="Calibri"/>
              </a:defRPr>
            </a:pPr>
            <a:r>
              <a:t>USE ROLE H360_FINANCE;</a:t>
            </a:r>
          </a:p>
        </p:txBody>
      </p:sp>
      <p:sp>
        <p:nvSpPr>
          <p:cNvPr id="25" name="TextBox 24"/>
          <p:cNvSpPr txBox="1"/>
          <p:nvPr/>
        </p:nvSpPr>
        <p:spPr>
          <a:xfrm>
            <a:off x="640080" y="13834872"/>
            <a:ext cx="10881360" cy="320040"/>
          </a:xfrm>
          <a:prstGeom prst="rect">
            <a:avLst/>
          </a:prstGeom>
          <a:noFill/>
        </p:spPr>
        <p:txBody>
          <a:bodyPr wrap="square">
            <a:spAutoFit/>
          </a:bodyPr>
          <a:lstStyle/>
          <a:p>
            <a:pPr algn="l">
              <a:defRPr sz="1400" b="0">
                <a:solidFill>
                  <a:srgbClr val="333333"/>
                </a:solidFill>
                <a:latin typeface="Calibri"/>
              </a:defRPr>
            </a:pPr>
            <a:r>
              <a:t>SELECT DISTINCT FACILITY_NAME FROM HOSPITAL360_CUR.OPERATIONS.MART_OR_CAPACITY;</a:t>
            </a:r>
          </a:p>
        </p:txBody>
      </p:sp>
      <p:sp>
        <p:nvSpPr>
          <p:cNvPr id="26" name="TextBox 25"/>
          <p:cNvSpPr txBox="1"/>
          <p:nvPr/>
        </p:nvSpPr>
        <p:spPr>
          <a:xfrm>
            <a:off x="640080" y="14182344"/>
            <a:ext cx="10881360" cy="320040"/>
          </a:xfrm>
          <a:prstGeom prst="rect">
            <a:avLst/>
          </a:prstGeom>
          <a:noFill/>
        </p:spPr>
        <p:txBody>
          <a:bodyPr wrap="square">
            <a:spAutoFit/>
          </a:bodyPr>
          <a:lstStyle/>
          <a:p>
            <a:pPr algn="l">
              <a:defRPr sz="1400" b="0">
                <a:solidFill>
                  <a:srgbClr val="333333"/>
                </a:solidFill>
                <a:latin typeface="Calibri"/>
              </a:defRPr>
            </a:pPr>
            <a:r>
              <a:t>-- Returns: 3 facilities (Main Hospital, Northgate, Eastside)</a:t>
            </a:r>
          </a:p>
        </p:txBody>
      </p:sp>
      <p:sp>
        <p:nvSpPr>
          <p:cNvPr id="27" name="TextBox 26"/>
          <p:cNvSpPr txBox="1"/>
          <p:nvPr/>
        </p:nvSpPr>
        <p:spPr>
          <a:xfrm>
            <a:off x="640080" y="14529816"/>
            <a:ext cx="10881360" cy="320040"/>
          </a:xfrm>
          <a:prstGeom prst="rect">
            <a:avLst/>
          </a:prstGeom>
          <a:noFill/>
        </p:spPr>
        <p:txBody>
          <a:bodyPr wrap="square">
            <a:spAutoFit/>
          </a:bodyPr>
          <a:lstStyle/>
          <a:p>
            <a:pPr algn="l">
              <a:defRPr sz="1400" b="0">
                <a:solidFill>
                  <a:srgbClr val="333333"/>
                </a:solidFill>
                <a:latin typeface="Calibri"/>
              </a:defRPr>
            </a:pPr>
            <a:r>
              <a:t>USE ROLE H360_ADMIN;</a:t>
            </a:r>
          </a:p>
        </p:txBody>
      </p:sp>
      <p:sp>
        <p:nvSpPr>
          <p:cNvPr id="28" name="TextBox 27"/>
          <p:cNvSpPr txBox="1"/>
          <p:nvPr/>
        </p:nvSpPr>
        <p:spPr>
          <a:xfrm>
            <a:off x="640080" y="14877288"/>
            <a:ext cx="10881360" cy="320040"/>
          </a:xfrm>
          <a:prstGeom prst="rect">
            <a:avLst/>
          </a:prstGeom>
          <a:noFill/>
        </p:spPr>
        <p:txBody>
          <a:bodyPr wrap="square">
            <a:spAutoFit/>
          </a:bodyPr>
          <a:lstStyle/>
          <a:p>
            <a:pPr algn="l">
              <a:defRPr sz="1400" b="0">
                <a:solidFill>
                  <a:srgbClr val="333333"/>
                </a:solidFill>
                <a:latin typeface="Calibri"/>
              </a:defRPr>
            </a:pPr>
            <a:r>
              <a:t>SELECT DISTINCT FACILITY_NAME FROM HOSPITAL360_CUR.OPERATIONS.MART_OR_CAPACITY;</a:t>
            </a:r>
          </a:p>
        </p:txBody>
      </p:sp>
      <p:sp>
        <p:nvSpPr>
          <p:cNvPr id="29" name="TextBox 28"/>
          <p:cNvSpPr txBox="1"/>
          <p:nvPr/>
        </p:nvSpPr>
        <p:spPr>
          <a:xfrm>
            <a:off x="640080" y="15224760"/>
            <a:ext cx="10881360" cy="320040"/>
          </a:xfrm>
          <a:prstGeom prst="rect">
            <a:avLst/>
          </a:prstGeom>
          <a:noFill/>
        </p:spPr>
        <p:txBody>
          <a:bodyPr wrap="square">
            <a:spAutoFit/>
          </a:bodyPr>
          <a:lstStyle/>
          <a:p>
            <a:pPr algn="l">
              <a:defRPr sz="1400" b="0">
                <a:solidFill>
                  <a:srgbClr val="333333"/>
                </a:solidFill>
                <a:latin typeface="Calibri"/>
              </a:defRPr>
            </a:pPr>
            <a:r>
              <a:t>-- Returns: All 5 facilities</a:t>
            </a:r>
          </a:p>
        </p:txBody>
      </p:sp>
      <p:sp>
        <p:nvSpPr>
          <p:cNvPr id="30" name="Rectangle 29"/>
          <p:cNvSpPr/>
          <p:nvPr/>
        </p:nvSpPr>
        <p:spPr>
          <a:xfrm>
            <a:off x="640080" y="15572232"/>
            <a:ext cx="10881360" cy="475488"/>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15663672"/>
            <a:ext cx="10607040" cy="292608"/>
          </a:xfrm>
          <a:prstGeom prst="rect">
            <a:avLst/>
          </a:prstGeom>
          <a:noFill/>
        </p:spPr>
        <p:txBody>
          <a:bodyPr wrap="square">
            <a:spAutoFit/>
          </a:bodyPr>
          <a:lstStyle/>
          <a:p>
            <a:pPr>
              <a:spcBef>
                <a:spcPts val="100"/>
              </a:spcBef>
              <a:spcAft>
                <a:spcPts val="100"/>
              </a:spcAft>
              <a:defRPr sz="900">
                <a:solidFill>
                  <a:srgbClr val="333333"/>
                </a:solidFill>
                <a:latin typeface="Consolas"/>
              </a:defRPr>
            </a:pPr>
            <a:r>
              <a:t>5. **Key talking point**: "All of this governance — tags, masking, row-access — applies everywhere: direct SQL, Streamlit, Cortex Analyst, and the Cortex Agent. One governance model, enforced consistently."</a:t>
            </a:r>
          </a:p>
        </p:txBody>
      </p:sp>
      <p:sp>
        <p:nvSpPr>
          <p:cNvPr id="32" name="TextBox 31"/>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881360" cy="548640"/>
          </a:xfrm>
          <a:prstGeom prst="rect">
            <a:avLst/>
          </a:prstGeom>
          <a:noFill/>
        </p:spPr>
        <p:txBody>
          <a:bodyPr wrap="square">
            <a:spAutoFit/>
          </a:bodyPr>
          <a:lstStyle/>
          <a:p>
            <a:pPr algn="l">
              <a:defRPr sz="3200" b="1">
                <a:solidFill>
                  <a:srgbClr val="1B2A4A"/>
                </a:solidFill>
                <a:latin typeface="Calibri"/>
              </a:defRPr>
            </a:pPr>
            <a:r>
              <a:t>Demo Script: Operational Automation &amp; Monitoring</a:t>
            </a:r>
          </a:p>
        </p:txBody>
      </p:sp>
      <p:sp>
        <p:nvSpPr>
          <p:cNvPr id="4" name="TextBox 3"/>
          <p:cNvSpPr txBox="1"/>
          <p:nvPr/>
        </p:nvSpPr>
        <p:spPr>
          <a:xfrm>
            <a:off x="640080" y="960120"/>
            <a:ext cx="10881360" cy="457200"/>
          </a:xfrm>
          <a:prstGeom prst="rect">
            <a:avLst/>
          </a:prstGeom>
          <a:noFill/>
        </p:spPr>
        <p:txBody>
          <a:bodyPr wrap="square">
            <a:spAutoFit/>
          </a:bodyPr>
          <a:lstStyle/>
          <a:p>
            <a:pPr algn="l">
              <a:defRPr sz="2200" b="0">
                <a:solidFill>
                  <a:srgbClr val="29B5E8"/>
                </a:solidFill>
                <a:latin typeface="Calibri"/>
              </a:defRPr>
            </a:pPr>
            <a:r>
              <a:t>Page: Operations Monitor (pages/8_ops_monitor.py) + SQL Worksheet</a:t>
            </a:r>
          </a:p>
        </p:txBody>
      </p:sp>
      <p:sp>
        <p:nvSpPr>
          <p:cNvPr id="5" name="TextBox 4"/>
          <p:cNvSpPr txBox="1"/>
          <p:nvPr/>
        </p:nvSpPr>
        <p:spPr>
          <a:xfrm>
            <a:off x="640080" y="1463040"/>
            <a:ext cx="10881360" cy="365760"/>
          </a:xfrm>
          <a:prstGeom prst="rect">
            <a:avLst/>
          </a:prstGeom>
          <a:noFill/>
        </p:spPr>
        <p:txBody>
          <a:bodyPr wrap="square">
            <a:spAutoFit/>
          </a:bodyPr>
          <a:lstStyle/>
          <a:p>
            <a:pPr algn="l">
              <a:defRPr sz="1800" b="1">
                <a:solidFill>
                  <a:srgbClr val="1B2A4A"/>
                </a:solidFill>
                <a:latin typeface="Calibri"/>
              </a:defRPr>
            </a:pPr>
            <a:r>
              <a:t>Setup</a:t>
            </a:r>
          </a:p>
        </p:txBody>
      </p:sp>
      <p:sp>
        <p:nvSpPr>
          <p:cNvPr id="6" name="TextBox 5"/>
          <p:cNvSpPr txBox="1"/>
          <p:nvPr/>
        </p:nvSpPr>
        <p:spPr>
          <a:xfrm>
            <a:off x="640080" y="1874520"/>
            <a:ext cx="10881360" cy="320040"/>
          </a:xfrm>
          <a:prstGeom prst="rect">
            <a:avLst/>
          </a:prstGeom>
          <a:noFill/>
        </p:spPr>
        <p:txBody>
          <a:bodyPr wrap="square">
            <a:spAutoFit/>
          </a:bodyPr>
          <a:lstStyle/>
          <a:p>
            <a:pPr algn="l">
              <a:defRPr sz="1400" b="0">
                <a:solidFill>
                  <a:srgbClr val="333333"/>
                </a:solidFill>
                <a:latin typeface="Calibri"/>
              </a:defRPr>
            </a:pPr>
            <a:r>
              <a:t>Navigate to the Ops Monitor page. Optionally have a SQL worksheet open to trigger the pipeline.</a:t>
            </a:r>
          </a:p>
        </p:txBody>
      </p:sp>
      <p:sp>
        <p:nvSpPr>
          <p:cNvPr id="7" name="TextBox 6"/>
          <p:cNvSpPr txBox="1"/>
          <p:nvPr/>
        </p:nvSpPr>
        <p:spPr>
          <a:xfrm>
            <a:off x="640080" y="2221992"/>
            <a:ext cx="10881360" cy="365760"/>
          </a:xfrm>
          <a:prstGeom prst="rect">
            <a:avLst/>
          </a:prstGeom>
          <a:noFill/>
        </p:spPr>
        <p:txBody>
          <a:bodyPr wrap="square">
            <a:spAutoFit/>
          </a:bodyPr>
          <a:lstStyle/>
          <a:p>
            <a:pPr algn="l">
              <a:defRPr sz="1800" b="1">
                <a:solidFill>
                  <a:srgbClr val="1B2A4A"/>
                </a:solidFill>
                <a:latin typeface="Calibri"/>
              </a:defRPr>
            </a:pPr>
            <a:r>
              <a:t>Walkthrough (3-4 minutes)</a:t>
            </a:r>
          </a:p>
        </p:txBody>
      </p:sp>
      <p:sp>
        <p:nvSpPr>
          <p:cNvPr id="8" name="TextBox 7"/>
          <p:cNvSpPr txBox="1"/>
          <p:nvPr/>
        </p:nvSpPr>
        <p:spPr>
          <a:xfrm>
            <a:off x="640080" y="2633472"/>
            <a:ext cx="10881360" cy="3675888"/>
          </a:xfrm>
          <a:prstGeom prst="rect">
            <a:avLst/>
          </a:prstGeom>
          <a:noFill/>
        </p:spPr>
        <p:txBody>
          <a:bodyPr wrap="square">
            <a:spAutoFit/>
          </a:bodyPr>
          <a:lstStyle/>
          <a:p>
            <a:pPr>
              <a:spcBef>
                <a:spcPts val="400"/>
              </a:spcBef>
              <a:spcAft>
                <a:spcPts val="200"/>
              </a:spcAft>
            </a:pPr>
            <a:r>
              <a:rPr b="1" sz="1300">
                <a:solidFill>
                  <a:srgbClr val="333333"/>
                </a:solidFill>
                <a:latin typeface="Calibri"/>
              </a:rPr>
              <a:t>Show the Task DAG</a:t>
            </a:r>
            <a:r>
              <a:rPr sz="1300">
                <a:solidFill>
                  <a:srgbClr val="333333"/>
                </a:solidFill>
                <a:latin typeface="Calibri"/>
              </a:rPr>
              <a:t> (bottom of Ops Monitor page or in worksheet):</a:t>
            </a:r>
          </a:p>
          <a:p>
            <a:pPr lvl="1">
              <a:spcBef>
                <a:spcPts val="400"/>
              </a:spcBef>
              <a:spcAft>
                <a:spcPts val="200"/>
              </a:spcAft>
            </a:pPr>
            <a:r>
              <a:rPr sz="1300">
                <a:solidFill>
                  <a:srgbClr val="333333"/>
                </a:solidFill>
                <a:latin typeface="Consolas"/>
              </a:rPr>
              <a:t>`</a:t>
            </a:r>
          </a:p>
          <a:p>
            <a:pPr lvl="1">
              <a:spcBef>
                <a:spcPts val="400"/>
              </a:spcBef>
              <a:spcAft>
                <a:spcPts val="200"/>
              </a:spcAft>
            </a:pPr>
            <a:r>
              <a:rPr sz="1300">
                <a:solidFill>
                  <a:srgbClr val="333333"/>
                </a:solidFill>
                <a:latin typeface="Calibri"/>
              </a:rPr>
              <a:t>TASK_REFRESH_PIPELINE          (Root — daily at 6 AM UTC)</a:t>
            </a:r>
          </a:p>
          <a:p>
            <a:pPr lvl="1">
              <a:spcBef>
                <a:spcPts val="400"/>
              </a:spcBef>
              <a:spcAft>
                <a:spcPts val="200"/>
              </a:spcAft>
            </a:pPr>
            <a:r>
              <a:rPr sz="1300">
                <a:solidFill>
                  <a:srgbClr val="333333"/>
                </a:solidFill>
                <a:latin typeface="Calibri"/>
              </a:rPr>
              <a:t>└── TASK_REFRESH_MARTS       (Rebuilds 4 use-case marts)</a:t>
            </a:r>
          </a:p>
          <a:p>
            <a:pPr lvl="1">
              <a:spcBef>
                <a:spcPts val="400"/>
              </a:spcBef>
              <a:spcAft>
                <a:spcPts val="200"/>
              </a:spcAft>
            </a:pPr>
            <a:r>
              <a:rPr sz="1300">
                <a:solidFill>
                  <a:srgbClr val="333333"/>
                </a:solidFill>
                <a:latin typeface="Calibri"/>
              </a:rPr>
              <a:t>├── TASK_RETRAIN_FORECAST  (Regenerates 90-day forecast)</a:t>
            </a:r>
          </a:p>
          <a:p>
            <a:pPr lvl="1">
              <a:spcBef>
                <a:spcPts val="400"/>
              </a:spcBef>
              <a:spcAft>
                <a:spcPts val="200"/>
              </a:spcAft>
            </a:pPr>
            <a:r>
              <a:rPr sz="1300">
                <a:solidFill>
                  <a:srgbClr val="333333"/>
                </a:solidFill>
                <a:latin typeface="Calibri"/>
              </a:rPr>
              <a:t>├── TASK_RETRAIN_ANOMALY   (Regenerates anomaly detection)</a:t>
            </a:r>
          </a:p>
          <a:p>
            <a:pPr lvl="1">
              <a:spcBef>
                <a:spcPts val="400"/>
              </a:spcBef>
              <a:spcAft>
                <a:spcPts val="200"/>
              </a:spcAft>
            </a:pPr>
            <a:r>
              <a:rPr sz="1300">
                <a:solidFill>
                  <a:srgbClr val="333333"/>
                </a:solidFill>
                <a:latin typeface="Calibri"/>
              </a:rPr>
              <a:t>└── TASK_LOG_PIPELINE_RUN  (Logs completion to monitoring)</a:t>
            </a:r>
          </a:p>
          <a:p>
            <a:pPr lvl="1">
              <a:spcBef>
                <a:spcPts val="400"/>
              </a:spcBef>
              <a:spcAft>
                <a:spcPts val="200"/>
              </a:spcAft>
            </a:pPr>
            <a:r>
              <a:rPr sz="1300">
                <a:solidFill>
                  <a:srgbClr val="333333"/>
                </a:solidFill>
                <a:latin typeface="Consolas"/>
              </a:rPr>
              <a:t>`</a:t>
            </a:r>
          </a:p>
          <a:p>
            <a:pPr lvl="1">
              <a:spcBef>
                <a:spcPts val="400"/>
              </a:spcBef>
              <a:spcAft>
                <a:spcPts val="200"/>
              </a:spcAft>
            </a:pPr>
            <a:r>
              <a:rPr sz="1300">
                <a:solidFill>
                  <a:srgbClr val="333333"/>
                </a:solidFill>
                <a:latin typeface="Calibri"/>
              </a:rPr>
              <a:t>"This entire pipeline is Snowflake-native — no Airflow, no external orchestrator. The Task DAG handles dependencies: forecast and anomaly detection only run after marts are rebuilt."</a:t>
            </a:r>
          </a:p>
          <a:p>
            <a:pPr>
              <a:spcBef>
                <a:spcPts val="400"/>
              </a:spcBef>
              <a:spcAft>
                <a:spcPts val="200"/>
              </a:spcAft>
            </a:pPr>
            <a:r>
              <a:rPr b="1" sz="1300">
                <a:solidFill>
                  <a:srgbClr val="333333"/>
                </a:solidFill>
                <a:latin typeface="Calibri"/>
              </a:rPr>
              <a:t>Trigger the pipeline manually</a:t>
            </a:r>
            <a:r>
              <a:rPr sz="1300">
                <a:solidFill>
                  <a:srgbClr val="333333"/>
                </a:solidFill>
                <a:latin typeface="Calibri"/>
              </a:rPr>
              <a:t> (if time allows):</a:t>
            </a:r>
          </a:p>
          <a:p>
            <a:pPr lvl="1">
              <a:spcBef>
                <a:spcPts val="400"/>
              </a:spcBef>
              <a:spcAft>
                <a:spcPts val="200"/>
              </a:spcAft>
            </a:pPr>
            <a:r>
              <a:rPr sz="1300">
                <a:solidFill>
                  <a:srgbClr val="333333"/>
                </a:solidFill>
                <a:latin typeface="Calibri"/>
              </a:rPr>
              <a:t>```sql</a:t>
            </a:r>
          </a:p>
          <a:p>
            <a:pPr lvl="1">
              <a:spcBef>
                <a:spcPts val="400"/>
              </a:spcBef>
              <a:spcAft>
                <a:spcPts val="200"/>
              </a:spcAft>
            </a:pPr>
            <a:r>
              <a:rPr sz="1300">
                <a:solidFill>
                  <a:srgbClr val="333333"/>
                </a:solidFill>
                <a:latin typeface="Calibri"/>
              </a:rPr>
              <a:t>EXECUTE TASK HOSPITAL360_ML.MONITORING.TASK_REFRESH_PIPELINE;</a:t>
            </a:r>
          </a:p>
          <a:p>
            <a:pPr lvl="1">
              <a:spcBef>
                <a:spcPts val="400"/>
              </a:spcBef>
              <a:spcAft>
                <a:spcPts val="200"/>
              </a:spcAft>
            </a:pPr>
            <a:r>
              <a:rPr sz="1300">
                <a:solidFill>
                  <a:srgbClr val="333333"/>
                </a:solidFill>
                <a:latin typeface="Consolas"/>
              </a:rPr>
              <a:t>`</a:t>
            </a:r>
          </a:p>
          <a:p>
            <a:pPr lvl="1">
              <a:spcBef>
                <a:spcPts val="400"/>
              </a:spcBef>
              <a:spcAft>
                <a:spcPts val="200"/>
              </a:spcAft>
            </a:pPr>
            <a:r>
              <a:rPr sz="1300">
                <a:solidFill>
                  <a:srgbClr val="333333"/>
                </a:solidFill>
                <a:latin typeface="Calibri"/>
              </a:rPr>
              <a:t>"In production, this runs daily at 6 AM. For the demo, we trigger it manually."</a:t>
            </a:r>
          </a:p>
          <a:p>
            <a:pPr>
              <a:spcBef>
                <a:spcPts val="400"/>
              </a:spcBef>
              <a:spcAft>
                <a:spcPts val="200"/>
              </a:spcAft>
            </a:pPr>
            <a:r>
              <a:rPr b="1" sz="1300">
                <a:solidFill>
                  <a:srgbClr val="333333"/>
                </a:solidFill>
                <a:latin typeface="Calibri"/>
              </a:rPr>
              <a:t>Show Pipeline Execution Log</a:t>
            </a:r>
            <a:r>
              <a:rPr sz="1300">
                <a:solidFill>
                  <a:srgbClr val="333333"/>
                </a:solidFill>
                <a:latin typeface="Calibri"/>
              </a:rPr>
              <a:t> (top of Ops Monitor page):</a:t>
            </a:r>
          </a:p>
          <a:p>
            <a:pPr lvl="1">
              <a:spcBef>
                <a:spcPts val="400"/>
              </a:spcBef>
              <a:spcAft>
                <a:spcPts val="200"/>
              </a:spcAft>
            </a:pPr>
            <a:r>
              <a:rPr sz="1300">
                <a:solidFill>
                  <a:srgbClr val="333333"/>
                </a:solidFill>
                <a:latin typeface="Calibri"/>
              </a:rPr>
              <a:t>KPIs: last run time, total runs, success/failure counts</a:t>
            </a:r>
          </a:p>
          <a:p>
            <a:pPr lvl="1">
              <a:spcBef>
                <a:spcPts val="400"/>
              </a:spcBef>
              <a:spcAft>
                <a:spcPts val="200"/>
              </a:spcAft>
            </a:pPr>
            <a:r>
              <a:rPr sz="1300">
                <a:solidFill>
                  <a:srgbClr val="333333"/>
                </a:solidFill>
                <a:latin typeface="Calibri"/>
              </a:rPr>
              <a:t>Bar chart of run counts by task name</a:t>
            </a:r>
          </a:p>
          <a:p>
            <a:pPr lvl="1">
              <a:spcBef>
                <a:spcPts val="400"/>
              </a:spcBef>
              <a:spcAft>
                <a:spcPts val="200"/>
              </a:spcAft>
            </a:pPr>
            <a:r>
              <a:rPr sz="1300">
                <a:solidFill>
                  <a:srgbClr val="333333"/>
                </a:solidFill>
                <a:latin typeface="Calibri"/>
              </a:rPr>
              <a:t>Expandable detail table with row counts and durations</a:t>
            </a:r>
          </a:p>
          <a:p>
            <a:pPr>
              <a:spcBef>
                <a:spcPts val="400"/>
              </a:spcBef>
              <a:spcAft>
                <a:spcPts val="200"/>
              </a:spcAft>
            </a:pPr>
            <a:r>
              <a:rPr b="1" sz="1300">
                <a:solidFill>
                  <a:srgbClr val="333333"/>
                </a:solidFill>
                <a:latin typeface="Calibri"/>
              </a:rPr>
              <a:t>Show Data Quality Dashboard</a:t>
            </a:r>
            <a:r>
              <a:rPr sz="1300">
                <a:solidFill>
                  <a:srgbClr val="333333"/>
                </a:solidFill>
                <a:latin typeface="Calibri"/>
              </a:rPr>
              <a:t> (middle of Ops Monitor page):</a:t>
            </a:r>
          </a:p>
          <a:p>
            <a:pPr lvl="1">
              <a:spcBef>
                <a:spcPts val="400"/>
              </a:spcBef>
              <a:spcAft>
                <a:spcPts val="200"/>
              </a:spcAft>
            </a:pPr>
            <a:r>
              <a:rPr sz="1300">
                <a:solidFill>
                  <a:srgbClr val="333333"/>
                </a:solidFill>
                <a:latin typeface="Calibri"/>
              </a:rPr>
              <a:t>"13 automated checks run against our 4 marts: row count minimums, NULL primary key checks, metric reasonableness bounds, and date freshness"</a:t>
            </a:r>
          </a:p>
          <a:p>
            <a:pPr lvl="1">
              <a:spcBef>
                <a:spcPts val="400"/>
              </a:spcBef>
              <a:spcAft>
                <a:spcPts val="200"/>
              </a:spcAft>
            </a:pPr>
            <a:r>
              <a:rPr sz="1300">
                <a:solidFill>
                  <a:srgbClr val="333333"/>
                </a:solidFill>
                <a:latin typeface="Calibri"/>
              </a:rPr>
              <a:t>Point out the color-coded PASS/FAIL/WARN indicators</a:t>
            </a:r>
          </a:p>
          <a:p>
            <a:pPr lvl="1">
              <a:spcBef>
                <a:spcPts val="400"/>
              </a:spcBef>
              <a:spcAft>
                <a:spcPts val="200"/>
              </a:spcAft>
            </a:pPr>
            <a:r>
              <a:rPr sz="1300">
                <a:solidFill>
                  <a:srgbClr val="333333"/>
                </a:solidFill>
                <a:latin typeface="Calibri"/>
              </a:rPr>
              <a:t>"Readmission rate is 12.02% — within our 5-25% expected range. OR utilization is 84.27% — within the 60-95% expected range."</a:t>
            </a:r>
          </a:p>
          <a:p>
            <a:pPr lvl="1">
              <a:spcBef>
                <a:spcPts val="400"/>
              </a:spcBef>
              <a:spcAft>
                <a:spcPts val="200"/>
              </a:spcAft>
            </a:pPr>
            <a:r>
              <a:rPr sz="1300">
                <a:solidFill>
                  <a:srgbClr val="333333"/>
                </a:solidFill>
                <a:latin typeface="Calibri"/>
              </a:rPr>
              <a:t>Click "Re-run Data Quality Checks" button to demonstrate live execution</a:t>
            </a:r>
          </a:p>
          <a:p>
            <a:pPr>
              <a:spcBef>
                <a:spcPts val="400"/>
              </a:spcBef>
              <a:spcAft>
                <a:spcPts val="200"/>
              </a:spcAft>
            </a:pPr>
            <a:r>
              <a:rPr b="1" sz="1300">
                <a:solidFill>
                  <a:srgbClr val="333333"/>
                </a:solidFill>
                <a:latin typeface="Calibri"/>
              </a:rPr>
              <a:t>Show Platform Inventory</a:t>
            </a:r>
            <a:r>
              <a:rPr sz="1300">
                <a:solidFill>
                  <a:srgbClr val="333333"/>
                </a:solidFill>
                <a:latin typeface="Calibri"/>
              </a:rPr>
              <a:t> (bottom of Ops Monitor page):</a:t>
            </a:r>
          </a:p>
          <a:p>
            <a:pPr lvl="1">
              <a:spcBef>
                <a:spcPts val="400"/>
              </a:spcBef>
              <a:spcAft>
                <a:spcPts val="200"/>
              </a:spcAft>
            </a:pPr>
            <a:r>
              <a:rPr sz="1300">
                <a:solidFill>
                  <a:srgbClr val="333333"/>
                </a:solidFill>
                <a:latin typeface="Calibri"/>
              </a:rPr>
              <a:t>Metric cards showing object counts: Tables, Views, ML Models, Semantic Views, Agents, Tasks, Masking Policies, etc.</a:t>
            </a:r>
          </a:p>
          <a:p>
            <a:pPr lvl="1">
              <a:spcBef>
                <a:spcPts val="400"/>
              </a:spcBef>
              <a:spcAft>
                <a:spcPts val="200"/>
              </a:spcAft>
            </a:pPr>
            <a:r>
              <a:rPr sz="1300">
                <a:solidFill>
                  <a:srgbClr val="333333"/>
                </a:solidFill>
                <a:latin typeface="Calibri"/>
              </a:rPr>
              <a:t>"This is the health dashboard for the entire platform — one place to see everything that's deployed"</a:t>
            </a:r>
          </a:p>
          <a:p>
            <a:pPr>
              <a:spcBef>
                <a:spcPts val="400"/>
              </a:spcBef>
              <a:spcAft>
                <a:spcPts val="200"/>
              </a:spcAft>
            </a:pPr>
            <a:r>
              <a:rPr b="1" sz="1300">
                <a:solidFill>
                  <a:srgbClr val="333333"/>
                </a:solidFill>
                <a:latin typeface="Calibri"/>
              </a:rPr>
              <a:t>Key talking point</a:t>
            </a:r>
            <a:r>
              <a:rPr sz="1300">
                <a:solidFill>
                  <a:srgbClr val="333333"/>
                </a:solidFill>
                <a:latin typeface="Calibri"/>
              </a:rPr>
              <a:t>: "Observability is built in, not bolted on. Every pipeline run logs its status, every ML model tracks its predictions, and every data quality check is recorded with expected vs. actual values."</a:t>
            </a:r>
          </a:p>
        </p:txBody>
      </p:sp>
      <p:sp>
        <p:nvSpPr>
          <p:cNvPr id="9" name="TextBox 8"/>
          <p:cNvSpPr txBox="1"/>
          <p:nvPr/>
        </p:nvSpPr>
        <p:spPr>
          <a:xfrm>
            <a:off x="457200" y="6492240"/>
            <a:ext cx="11277295" cy="274320"/>
          </a:xfrm>
          <a:prstGeom prst="rect">
            <a:avLst/>
          </a:prstGeom>
          <a:noFill/>
        </p:spPr>
        <p:txBody>
          <a:bodyPr wrap="square">
            <a:spAutoFit/>
          </a:bodyPr>
          <a:lstStyle/>
          <a:p>
            <a:pPr algn="ctr">
              <a:defRPr sz="900">
                <a:solidFill>
                  <a:srgbClr val="999999"/>
                </a:solidFill>
              </a:defRPr>
            </a:pPr>
            <a:r>
              <a:t>Hospital 360  |  Snowflake + Epic Healthcare 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